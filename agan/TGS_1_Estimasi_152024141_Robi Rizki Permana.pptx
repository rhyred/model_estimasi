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uce Semi-Bold" charset="1" panose="00000700000000000000"/>
      <p:regular r:id="rId16"/>
    </p:embeddedFont>
    <p:embeddedFont>
      <p:font typeface="Open Sauce" charset="1" panose="00000500000000000000"/>
      <p:regular r:id="rId17"/>
    </p:embeddedFont>
    <p:embeddedFont>
      <p:font typeface="Open Sauce Bold" charset="1" panose="00000800000000000000"/>
      <p:regular r:id="rId18"/>
    </p:embeddedFont>
    <p:embeddedFont>
      <p:font typeface="Codec Pro" charset="1" panose="00000500000000000000"/>
      <p:regular r:id="rId19"/>
    </p:embeddedFont>
    <p:embeddedFont>
      <p:font typeface="Codec Pro Bold" charset="1" panose="000006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6246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3255491" y="5243779"/>
            <a:ext cx="5599298" cy="5049549"/>
          </a:xfrm>
          <a:custGeom>
            <a:avLst/>
            <a:gdLst/>
            <a:ahLst/>
            <a:cxnLst/>
            <a:rect r="r" b="b" t="t" l="l"/>
            <a:pathLst>
              <a:path h="5049549" w="5599298">
                <a:moveTo>
                  <a:pt x="0" y="0"/>
                </a:moveTo>
                <a:lnTo>
                  <a:pt x="5599298" y="0"/>
                </a:lnTo>
                <a:lnTo>
                  <a:pt x="5599298" y="5049549"/>
                </a:lnTo>
                <a:lnTo>
                  <a:pt x="0" y="504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029382" y="3674243"/>
            <a:ext cx="10000085" cy="4233252"/>
          </a:xfrm>
          <a:prstGeom prst="rect">
            <a:avLst/>
          </a:prstGeom>
        </p:spPr>
        <p:txBody>
          <a:bodyPr anchor="t" rtlCol="false" tIns="0" lIns="0" bIns="0" rIns="0">
            <a:spAutoFit/>
          </a:bodyPr>
          <a:lstStyle/>
          <a:p>
            <a:pPr algn="ctr">
              <a:lnSpc>
                <a:spcPts val="10938"/>
              </a:lnSpc>
            </a:pPr>
            <a:r>
              <a:rPr lang="en-US" b="true" sz="10829" spc="-335">
                <a:solidFill>
                  <a:srgbClr val="FFFFFF"/>
                </a:solidFill>
                <a:latin typeface="Open Sauce Semi-Bold"/>
                <a:ea typeface="Open Sauce Semi-Bold"/>
                <a:cs typeface="Open Sauce Semi-Bold"/>
                <a:sym typeface="Open Sauce Semi-Bold"/>
              </a:rPr>
              <a:t> Pembuatan Mode</a:t>
            </a:r>
            <a:r>
              <a:rPr lang="en-US" b="true" sz="10829" spc="-335">
                <a:solidFill>
                  <a:srgbClr val="FFFFFF"/>
                </a:solidFill>
                <a:latin typeface="Open Sauce Semi-Bold"/>
                <a:ea typeface="Open Sauce Semi-Bold"/>
                <a:cs typeface="Open Sauce Semi-Bold"/>
                <a:sym typeface="Open Sauce Semi-Bold"/>
              </a:rPr>
              <a:t>l Estimasi</a:t>
            </a:r>
          </a:p>
          <a:p>
            <a:pPr algn="ctr" marL="0" indent="0" lvl="1">
              <a:lnSpc>
                <a:spcPts val="10938"/>
              </a:lnSpc>
            </a:pPr>
          </a:p>
        </p:txBody>
      </p:sp>
      <p:sp>
        <p:nvSpPr>
          <p:cNvPr name="Freeform 4" id="4"/>
          <p:cNvSpPr/>
          <p:nvPr/>
        </p:nvSpPr>
        <p:spPr>
          <a:xfrm flipH="false" flipV="false" rot="5400000">
            <a:off x="-566789" y="-6328"/>
            <a:ext cx="5599298" cy="5049549"/>
          </a:xfrm>
          <a:custGeom>
            <a:avLst/>
            <a:gdLst/>
            <a:ahLst/>
            <a:cxnLst/>
            <a:rect r="r" b="b" t="t" l="l"/>
            <a:pathLst>
              <a:path h="5049549" w="5599298">
                <a:moveTo>
                  <a:pt x="0" y="0"/>
                </a:moveTo>
                <a:lnTo>
                  <a:pt x="5599298" y="0"/>
                </a:lnTo>
                <a:lnTo>
                  <a:pt x="5599298" y="5049549"/>
                </a:lnTo>
                <a:lnTo>
                  <a:pt x="0" y="504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6261336" y="2986524"/>
            <a:ext cx="6437382" cy="277007"/>
          </a:xfrm>
          <a:prstGeom prst="rect">
            <a:avLst/>
          </a:prstGeom>
        </p:spPr>
        <p:txBody>
          <a:bodyPr anchor="t" rtlCol="false" tIns="0" lIns="0" bIns="0" rIns="0">
            <a:spAutoFit/>
          </a:bodyPr>
          <a:lstStyle/>
          <a:p>
            <a:pPr algn="ctr" marL="0" indent="0" lvl="1">
              <a:lnSpc>
                <a:spcPts val="2043"/>
              </a:lnSpc>
              <a:spcBef>
                <a:spcPct val="0"/>
              </a:spcBef>
            </a:pPr>
            <a:r>
              <a:rPr lang="en-US" sz="2270">
                <a:solidFill>
                  <a:srgbClr val="FFDE59"/>
                </a:solidFill>
                <a:latin typeface="Open Sauce"/>
                <a:ea typeface="Open Sauce"/>
                <a:cs typeface="Open Sauce"/>
                <a:sym typeface="Open Sauce"/>
              </a:rPr>
              <a:t>Tug</a:t>
            </a:r>
            <a:r>
              <a:rPr lang="en-US" sz="2270" strike="noStrike" u="none">
                <a:solidFill>
                  <a:srgbClr val="FFDE59"/>
                </a:solidFill>
                <a:latin typeface="Open Sauce"/>
                <a:ea typeface="Open Sauce"/>
                <a:cs typeface="Open Sauce"/>
                <a:sym typeface="Open Sauce"/>
              </a:rPr>
              <a:t>a</a:t>
            </a:r>
            <a:r>
              <a:rPr lang="en-US" sz="2270" strike="noStrike" u="none">
                <a:solidFill>
                  <a:srgbClr val="FFDE59"/>
                </a:solidFill>
                <a:latin typeface="Open Sauce"/>
                <a:ea typeface="Open Sauce"/>
                <a:cs typeface="Open Sauce"/>
                <a:sym typeface="Open Sauce"/>
              </a:rPr>
              <a:t>s M</a:t>
            </a:r>
            <a:r>
              <a:rPr lang="en-US" sz="2270" strike="noStrike" u="none">
                <a:solidFill>
                  <a:srgbClr val="FFDE59"/>
                </a:solidFill>
                <a:latin typeface="Open Sauce"/>
                <a:ea typeface="Open Sauce"/>
                <a:cs typeface="Open Sauce"/>
                <a:sym typeface="Open Sauce"/>
              </a:rPr>
              <a:t>at</a:t>
            </a:r>
            <a:r>
              <a:rPr lang="en-US" sz="2270" strike="noStrike" u="none">
                <a:solidFill>
                  <a:srgbClr val="FFDE59"/>
                </a:solidFill>
                <a:latin typeface="Open Sauce"/>
                <a:ea typeface="Open Sauce"/>
                <a:cs typeface="Open Sauce"/>
                <a:sym typeface="Open Sauce"/>
              </a:rPr>
              <a:t>a Kul</a:t>
            </a:r>
            <a:r>
              <a:rPr lang="en-US" sz="2270" strike="noStrike" u="none">
                <a:solidFill>
                  <a:srgbClr val="FFDE59"/>
                </a:solidFill>
                <a:latin typeface="Open Sauce"/>
                <a:ea typeface="Open Sauce"/>
                <a:cs typeface="Open Sauce"/>
                <a:sym typeface="Open Sauce"/>
              </a:rPr>
              <a:t>iah Data Mining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6246D"/>
        </a:solidFill>
      </p:bgPr>
    </p:bg>
    <p:spTree>
      <p:nvGrpSpPr>
        <p:cNvPr id="1" name=""/>
        <p:cNvGrpSpPr/>
        <p:nvPr/>
      </p:nvGrpSpPr>
      <p:grpSpPr>
        <a:xfrm>
          <a:off x="0" y="0"/>
          <a:ext cx="0" cy="0"/>
          <a:chOff x="0" y="0"/>
          <a:chExt cx="0" cy="0"/>
        </a:xfrm>
      </p:grpSpPr>
      <p:sp>
        <p:nvSpPr>
          <p:cNvPr name="Freeform 2" id="2"/>
          <p:cNvSpPr/>
          <p:nvPr/>
        </p:nvSpPr>
        <p:spPr>
          <a:xfrm flipH="false" flipV="false" rot="0">
            <a:off x="-2121397" y="-1418776"/>
            <a:ext cx="6650168" cy="6650168"/>
          </a:xfrm>
          <a:custGeom>
            <a:avLst/>
            <a:gdLst/>
            <a:ahLst/>
            <a:cxnLst/>
            <a:rect r="r" b="b" t="t" l="l"/>
            <a:pathLst>
              <a:path h="6650168" w="6650168">
                <a:moveTo>
                  <a:pt x="0" y="0"/>
                </a:moveTo>
                <a:lnTo>
                  <a:pt x="6650169" y="0"/>
                </a:lnTo>
                <a:lnTo>
                  <a:pt x="6650169" y="6650168"/>
                </a:lnTo>
                <a:lnTo>
                  <a:pt x="0" y="6650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178867" y="1361636"/>
            <a:ext cx="13930266" cy="7563728"/>
            <a:chOff x="0" y="0"/>
            <a:chExt cx="18573688" cy="10084971"/>
          </a:xfrm>
        </p:grpSpPr>
        <p:grpSp>
          <p:nvGrpSpPr>
            <p:cNvPr name="Group 4" id="4"/>
            <p:cNvGrpSpPr/>
            <p:nvPr/>
          </p:nvGrpSpPr>
          <p:grpSpPr>
            <a:xfrm rot="0">
              <a:off x="0" y="0"/>
              <a:ext cx="18573688" cy="10084971"/>
              <a:chOff x="0" y="0"/>
              <a:chExt cx="2197294" cy="1193067"/>
            </a:xfrm>
          </p:grpSpPr>
          <p:sp>
            <p:nvSpPr>
              <p:cNvPr name="Freeform 5" id="5"/>
              <p:cNvSpPr/>
              <p:nvPr/>
            </p:nvSpPr>
            <p:spPr>
              <a:xfrm flipH="false" flipV="false" rot="0">
                <a:off x="0" y="0"/>
                <a:ext cx="2197294" cy="1193067"/>
              </a:xfrm>
              <a:custGeom>
                <a:avLst/>
                <a:gdLst/>
                <a:ahLst/>
                <a:cxnLst/>
                <a:rect r="r" b="b" t="t" l="l"/>
                <a:pathLst>
                  <a:path h="1193067" w="2197294">
                    <a:moveTo>
                      <a:pt x="21119" y="0"/>
                    </a:moveTo>
                    <a:lnTo>
                      <a:pt x="2176175" y="0"/>
                    </a:lnTo>
                    <a:cubicBezTo>
                      <a:pt x="2181776" y="0"/>
                      <a:pt x="2187148" y="2225"/>
                      <a:pt x="2191109" y="6186"/>
                    </a:cubicBezTo>
                    <a:cubicBezTo>
                      <a:pt x="2195069" y="10146"/>
                      <a:pt x="2197294" y="15518"/>
                      <a:pt x="2197294" y="21119"/>
                    </a:cubicBezTo>
                    <a:lnTo>
                      <a:pt x="2197294" y="1171948"/>
                    </a:lnTo>
                    <a:cubicBezTo>
                      <a:pt x="2197294" y="1183611"/>
                      <a:pt x="2187839" y="1193067"/>
                      <a:pt x="2176175" y="1193067"/>
                    </a:cubicBezTo>
                    <a:lnTo>
                      <a:pt x="21119" y="1193067"/>
                    </a:lnTo>
                    <a:cubicBezTo>
                      <a:pt x="15518" y="1193067"/>
                      <a:pt x="10146" y="1190842"/>
                      <a:pt x="6186" y="1186881"/>
                    </a:cubicBezTo>
                    <a:cubicBezTo>
                      <a:pt x="2225" y="1182921"/>
                      <a:pt x="0" y="1177549"/>
                      <a:pt x="0" y="1171948"/>
                    </a:cubicBezTo>
                    <a:lnTo>
                      <a:pt x="0" y="21119"/>
                    </a:lnTo>
                    <a:cubicBezTo>
                      <a:pt x="0" y="9455"/>
                      <a:pt x="9455" y="0"/>
                      <a:pt x="21119" y="0"/>
                    </a:cubicBezTo>
                    <a:close/>
                  </a:path>
                </a:pathLst>
              </a:custGeom>
              <a:solidFill>
                <a:srgbClr val="5065D8"/>
              </a:solidFill>
            </p:spPr>
          </p:sp>
          <p:sp>
            <p:nvSpPr>
              <p:cNvPr name="TextBox 6" id="6"/>
              <p:cNvSpPr txBox="true"/>
              <p:nvPr/>
            </p:nvSpPr>
            <p:spPr>
              <a:xfrm>
                <a:off x="0" y="-28575"/>
                <a:ext cx="2197294" cy="1221642"/>
              </a:xfrm>
              <a:prstGeom prst="rect">
                <a:avLst/>
              </a:prstGeom>
            </p:spPr>
            <p:txBody>
              <a:bodyPr anchor="ctr" rtlCol="false" tIns="50800" lIns="50800" bIns="50800" rIns="50800"/>
              <a:lstStyle/>
              <a:p>
                <a:pPr algn="ctr">
                  <a:lnSpc>
                    <a:spcPts val="1960"/>
                  </a:lnSpc>
                  <a:spcBef>
                    <a:spcPct val="0"/>
                  </a:spcBef>
                </a:pPr>
              </a:p>
            </p:txBody>
          </p:sp>
        </p:grpSp>
        <p:grpSp>
          <p:nvGrpSpPr>
            <p:cNvPr name="Group 7" id="7"/>
            <p:cNvGrpSpPr/>
            <p:nvPr/>
          </p:nvGrpSpPr>
          <p:grpSpPr>
            <a:xfrm rot="0">
              <a:off x="326460" y="343804"/>
              <a:ext cx="17920767" cy="9397362"/>
              <a:chOff x="0" y="0"/>
              <a:chExt cx="2120053" cy="1111722"/>
            </a:xfrm>
          </p:grpSpPr>
          <p:sp>
            <p:nvSpPr>
              <p:cNvPr name="Freeform 8" id="8"/>
              <p:cNvSpPr/>
              <p:nvPr/>
            </p:nvSpPr>
            <p:spPr>
              <a:xfrm flipH="false" flipV="false" rot="0">
                <a:off x="0" y="0"/>
                <a:ext cx="2120053" cy="1111722"/>
              </a:xfrm>
              <a:custGeom>
                <a:avLst/>
                <a:gdLst/>
                <a:ahLst/>
                <a:cxnLst/>
                <a:rect r="r" b="b" t="t" l="l"/>
                <a:pathLst>
                  <a:path h="1111722" w="2120053">
                    <a:moveTo>
                      <a:pt x="12672" y="0"/>
                    </a:moveTo>
                    <a:lnTo>
                      <a:pt x="2107380" y="0"/>
                    </a:lnTo>
                    <a:cubicBezTo>
                      <a:pt x="2114379" y="0"/>
                      <a:pt x="2120053" y="5674"/>
                      <a:pt x="2120053" y="12672"/>
                    </a:cubicBezTo>
                    <a:lnTo>
                      <a:pt x="2120053" y="1099049"/>
                    </a:lnTo>
                    <a:cubicBezTo>
                      <a:pt x="2120053" y="1102410"/>
                      <a:pt x="2118718" y="1105633"/>
                      <a:pt x="2116341" y="1108010"/>
                    </a:cubicBezTo>
                    <a:cubicBezTo>
                      <a:pt x="2113965" y="1110386"/>
                      <a:pt x="2110741" y="1111722"/>
                      <a:pt x="2107380" y="1111722"/>
                    </a:cubicBezTo>
                    <a:lnTo>
                      <a:pt x="12672" y="1111722"/>
                    </a:lnTo>
                    <a:cubicBezTo>
                      <a:pt x="9311" y="1111722"/>
                      <a:pt x="6088" y="1110386"/>
                      <a:pt x="3712" y="1108010"/>
                    </a:cubicBezTo>
                    <a:cubicBezTo>
                      <a:pt x="1335" y="1105633"/>
                      <a:pt x="0" y="1102410"/>
                      <a:pt x="0" y="1099049"/>
                    </a:cubicBezTo>
                    <a:lnTo>
                      <a:pt x="0" y="12672"/>
                    </a:lnTo>
                    <a:cubicBezTo>
                      <a:pt x="0" y="5674"/>
                      <a:pt x="5674" y="0"/>
                      <a:pt x="12672" y="0"/>
                    </a:cubicBezTo>
                    <a:close/>
                  </a:path>
                </a:pathLst>
              </a:custGeom>
              <a:ln w="47625" cap="rnd">
                <a:solidFill>
                  <a:srgbClr val="FBF6F1"/>
                </a:solidFill>
                <a:prstDash val="dash"/>
                <a:round/>
              </a:ln>
            </p:spPr>
          </p:sp>
          <p:sp>
            <p:nvSpPr>
              <p:cNvPr name="TextBox 9" id="9"/>
              <p:cNvSpPr txBox="true"/>
              <p:nvPr/>
            </p:nvSpPr>
            <p:spPr>
              <a:xfrm>
                <a:off x="0" y="-28575"/>
                <a:ext cx="2120053" cy="1140297"/>
              </a:xfrm>
              <a:prstGeom prst="rect">
                <a:avLst/>
              </a:prstGeom>
            </p:spPr>
            <p:txBody>
              <a:bodyPr anchor="ctr" rtlCol="false" tIns="50800" lIns="50800" bIns="50800" rIns="50800"/>
              <a:lstStyle/>
              <a:p>
                <a:pPr algn="ctr">
                  <a:lnSpc>
                    <a:spcPts val="1960"/>
                  </a:lnSpc>
                  <a:spcBef>
                    <a:spcPct val="0"/>
                  </a:spcBef>
                </a:pPr>
              </a:p>
            </p:txBody>
          </p:sp>
        </p:grpSp>
      </p:grpSp>
      <p:grpSp>
        <p:nvGrpSpPr>
          <p:cNvPr name="Group 10" id="10"/>
          <p:cNvGrpSpPr/>
          <p:nvPr/>
        </p:nvGrpSpPr>
        <p:grpSpPr>
          <a:xfrm rot="0">
            <a:off x="4412585" y="3149018"/>
            <a:ext cx="4438738" cy="4934727"/>
            <a:chOff x="0" y="0"/>
            <a:chExt cx="5918317" cy="6579637"/>
          </a:xfrm>
        </p:grpSpPr>
        <p:grpSp>
          <p:nvGrpSpPr>
            <p:cNvPr name="Group 11" id="11"/>
            <p:cNvGrpSpPr/>
            <p:nvPr/>
          </p:nvGrpSpPr>
          <p:grpSpPr>
            <a:xfrm rot="0">
              <a:off x="653139" y="747216"/>
              <a:ext cx="5265178" cy="5832421"/>
              <a:chOff x="0" y="0"/>
              <a:chExt cx="1077033" cy="1193067"/>
            </a:xfrm>
          </p:grpSpPr>
          <p:sp>
            <p:nvSpPr>
              <p:cNvPr name="Freeform 12" id="12"/>
              <p:cNvSpPr/>
              <p:nvPr/>
            </p:nvSpPr>
            <p:spPr>
              <a:xfrm flipH="false" flipV="false" rot="0">
                <a:off x="0" y="0"/>
                <a:ext cx="1077033" cy="1193067"/>
              </a:xfrm>
              <a:custGeom>
                <a:avLst/>
                <a:gdLst/>
                <a:ahLst/>
                <a:cxnLst/>
                <a:rect r="r" b="b" t="t" l="l"/>
                <a:pathLst>
                  <a:path h="1193067" w="1077033">
                    <a:moveTo>
                      <a:pt x="43086" y="0"/>
                    </a:moveTo>
                    <a:lnTo>
                      <a:pt x="1033947" y="0"/>
                    </a:lnTo>
                    <a:cubicBezTo>
                      <a:pt x="1057743" y="0"/>
                      <a:pt x="1077033" y="19290"/>
                      <a:pt x="1077033" y="43086"/>
                    </a:cubicBezTo>
                    <a:lnTo>
                      <a:pt x="1077033" y="1149981"/>
                    </a:lnTo>
                    <a:cubicBezTo>
                      <a:pt x="1077033" y="1173777"/>
                      <a:pt x="1057743" y="1193067"/>
                      <a:pt x="1033947" y="1193067"/>
                    </a:cubicBezTo>
                    <a:lnTo>
                      <a:pt x="43086" y="1193067"/>
                    </a:lnTo>
                    <a:cubicBezTo>
                      <a:pt x="19290" y="1193067"/>
                      <a:pt x="0" y="1173777"/>
                      <a:pt x="0" y="1149981"/>
                    </a:cubicBezTo>
                    <a:lnTo>
                      <a:pt x="0" y="43086"/>
                    </a:lnTo>
                    <a:cubicBezTo>
                      <a:pt x="0" y="19290"/>
                      <a:pt x="19290" y="0"/>
                      <a:pt x="43086" y="0"/>
                    </a:cubicBezTo>
                    <a:close/>
                  </a:path>
                </a:pathLst>
              </a:custGeom>
              <a:solidFill>
                <a:srgbClr val="ABB8FF"/>
              </a:solidFill>
            </p:spPr>
          </p:sp>
          <p:sp>
            <p:nvSpPr>
              <p:cNvPr name="TextBox 13" id="13"/>
              <p:cNvSpPr txBox="true"/>
              <p:nvPr/>
            </p:nvSpPr>
            <p:spPr>
              <a:xfrm>
                <a:off x="0" y="-28575"/>
                <a:ext cx="1077033" cy="1221642"/>
              </a:xfrm>
              <a:prstGeom prst="rect">
                <a:avLst/>
              </a:prstGeom>
            </p:spPr>
            <p:txBody>
              <a:bodyPr anchor="ctr" rtlCol="false" tIns="50800" lIns="50800" bIns="50800" rIns="50800"/>
              <a:lstStyle/>
              <a:p>
                <a:pPr algn="ctr">
                  <a:lnSpc>
                    <a:spcPts val="1959"/>
                  </a:lnSpc>
                  <a:spcBef>
                    <a:spcPct val="0"/>
                  </a:spcBef>
                </a:pPr>
              </a:p>
            </p:txBody>
          </p:sp>
        </p:grpSp>
        <p:grpSp>
          <p:nvGrpSpPr>
            <p:cNvPr name="Group 14" id="14"/>
            <p:cNvGrpSpPr/>
            <p:nvPr/>
          </p:nvGrpSpPr>
          <p:grpSpPr>
            <a:xfrm rot="0">
              <a:off x="745683" y="946048"/>
              <a:ext cx="5080091" cy="5434757"/>
              <a:chOff x="0" y="0"/>
              <a:chExt cx="1039172" cy="1111722"/>
            </a:xfrm>
          </p:grpSpPr>
          <p:sp>
            <p:nvSpPr>
              <p:cNvPr name="Freeform 15" id="15"/>
              <p:cNvSpPr/>
              <p:nvPr/>
            </p:nvSpPr>
            <p:spPr>
              <a:xfrm flipH="false" flipV="false" rot="0">
                <a:off x="0" y="0"/>
                <a:ext cx="1039172" cy="1111722"/>
              </a:xfrm>
              <a:custGeom>
                <a:avLst/>
                <a:gdLst/>
                <a:ahLst/>
                <a:cxnLst/>
                <a:rect r="r" b="b" t="t" l="l"/>
                <a:pathLst>
                  <a:path h="1111722" w="1039172">
                    <a:moveTo>
                      <a:pt x="25853" y="0"/>
                    </a:moveTo>
                    <a:lnTo>
                      <a:pt x="1013319" y="0"/>
                    </a:lnTo>
                    <a:cubicBezTo>
                      <a:pt x="1027597" y="0"/>
                      <a:pt x="1039172" y="11575"/>
                      <a:pt x="1039172" y="25853"/>
                    </a:cubicBezTo>
                    <a:lnTo>
                      <a:pt x="1039172" y="1085869"/>
                    </a:lnTo>
                    <a:cubicBezTo>
                      <a:pt x="1039172" y="1092725"/>
                      <a:pt x="1036448" y="1099301"/>
                      <a:pt x="1031600" y="1104149"/>
                    </a:cubicBezTo>
                    <a:cubicBezTo>
                      <a:pt x="1026751" y="1108998"/>
                      <a:pt x="1020175" y="1111722"/>
                      <a:pt x="1013319" y="1111722"/>
                    </a:cubicBezTo>
                    <a:lnTo>
                      <a:pt x="25853" y="1111722"/>
                    </a:lnTo>
                    <a:cubicBezTo>
                      <a:pt x="18996" y="1111722"/>
                      <a:pt x="12421" y="1108998"/>
                      <a:pt x="7572" y="1104149"/>
                    </a:cubicBezTo>
                    <a:cubicBezTo>
                      <a:pt x="2724" y="1099301"/>
                      <a:pt x="0" y="1092725"/>
                      <a:pt x="0" y="1085869"/>
                    </a:cubicBezTo>
                    <a:lnTo>
                      <a:pt x="0" y="25853"/>
                    </a:lnTo>
                    <a:cubicBezTo>
                      <a:pt x="0" y="18996"/>
                      <a:pt x="2724" y="12421"/>
                      <a:pt x="7572" y="7572"/>
                    </a:cubicBezTo>
                    <a:cubicBezTo>
                      <a:pt x="12421" y="2724"/>
                      <a:pt x="18996" y="0"/>
                      <a:pt x="25853" y="0"/>
                    </a:cubicBezTo>
                    <a:close/>
                  </a:path>
                </a:pathLst>
              </a:custGeom>
              <a:solidFill>
                <a:srgbClr val="ABB8FF"/>
              </a:solidFill>
              <a:ln w="47625" cap="rnd">
                <a:solidFill>
                  <a:srgbClr val="FBF6F1"/>
                </a:solidFill>
                <a:prstDash val="dash"/>
                <a:round/>
              </a:ln>
            </p:spPr>
          </p:sp>
          <p:sp>
            <p:nvSpPr>
              <p:cNvPr name="TextBox 16" id="16"/>
              <p:cNvSpPr txBox="true"/>
              <p:nvPr/>
            </p:nvSpPr>
            <p:spPr>
              <a:xfrm>
                <a:off x="0" y="-28575"/>
                <a:ext cx="1039172" cy="1140297"/>
              </a:xfrm>
              <a:prstGeom prst="rect">
                <a:avLst/>
              </a:prstGeom>
            </p:spPr>
            <p:txBody>
              <a:bodyPr anchor="ctr" rtlCol="false" tIns="50800" lIns="50800" bIns="50800" rIns="50800"/>
              <a:lstStyle/>
              <a:p>
                <a:pPr algn="ctr">
                  <a:lnSpc>
                    <a:spcPts val="1959"/>
                  </a:lnSpc>
                  <a:spcBef>
                    <a:spcPct val="0"/>
                  </a:spcBef>
                </a:pPr>
              </a:p>
            </p:txBody>
          </p:sp>
        </p:grpSp>
        <p:sp>
          <p:nvSpPr>
            <p:cNvPr name="Freeform 17" id="17"/>
            <p:cNvSpPr/>
            <p:nvPr/>
          </p:nvSpPr>
          <p:spPr>
            <a:xfrm flipH="false" flipV="false" rot="0">
              <a:off x="0" y="0"/>
              <a:ext cx="2040289" cy="2040289"/>
            </a:xfrm>
            <a:custGeom>
              <a:avLst/>
              <a:gdLst/>
              <a:ahLst/>
              <a:cxnLst/>
              <a:rect r="r" b="b" t="t" l="l"/>
              <a:pathLst>
                <a:path h="2040289" w="2040289">
                  <a:moveTo>
                    <a:pt x="0" y="0"/>
                  </a:moveTo>
                  <a:lnTo>
                    <a:pt x="2040289" y="0"/>
                  </a:lnTo>
                  <a:lnTo>
                    <a:pt x="2040289" y="2040289"/>
                  </a:lnTo>
                  <a:lnTo>
                    <a:pt x="0" y="20402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8" id="18"/>
          <p:cNvSpPr txBox="true"/>
          <p:nvPr/>
        </p:nvSpPr>
        <p:spPr>
          <a:xfrm rot="0">
            <a:off x="5292569" y="2171001"/>
            <a:ext cx="7702862" cy="855345"/>
          </a:xfrm>
          <a:prstGeom prst="rect">
            <a:avLst/>
          </a:prstGeom>
        </p:spPr>
        <p:txBody>
          <a:bodyPr anchor="t" rtlCol="false" tIns="0" lIns="0" bIns="0" rIns="0">
            <a:spAutoFit/>
          </a:bodyPr>
          <a:lstStyle/>
          <a:p>
            <a:pPr algn="ctr" marL="0" indent="0" lvl="1">
              <a:lnSpc>
                <a:spcPts val="6540"/>
              </a:lnSpc>
            </a:pPr>
            <a:r>
              <a:rPr lang="en-US" b="true" sz="6000" spc="-288">
                <a:solidFill>
                  <a:srgbClr val="FFDE59"/>
                </a:solidFill>
                <a:latin typeface="Open Sauce Semi-Bold"/>
                <a:ea typeface="Open Sauce Semi-Bold"/>
                <a:cs typeface="Open Sauce Semi-Bold"/>
                <a:sym typeface="Open Sauce Semi-Bold"/>
              </a:rPr>
              <a:t>Kelompok 8</a:t>
            </a:r>
          </a:p>
        </p:txBody>
      </p:sp>
      <p:grpSp>
        <p:nvGrpSpPr>
          <p:cNvPr name="Group 19" id="19"/>
          <p:cNvGrpSpPr/>
          <p:nvPr/>
        </p:nvGrpSpPr>
        <p:grpSpPr>
          <a:xfrm rot="0">
            <a:off x="9504048" y="3149018"/>
            <a:ext cx="4438738" cy="4934727"/>
            <a:chOff x="0" y="0"/>
            <a:chExt cx="5918317" cy="6579637"/>
          </a:xfrm>
        </p:grpSpPr>
        <p:grpSp>
          <p:nvGrpSpPr>
            <p:cNvPr name="Group 20" id="20"/>
            <p:cNvGrpSpPr/>
            <p:nvPr/>
          </p:nvGrpSpPr>
          <p:grpSpPr>
            <a:xfrm rot="0">
              <a:off x="653139" y="747216"/>
              <a:ext cx="5265178" cy="5832421"/>
              <a:chOff x="0" y="0"/>
              <a:chExt cx="1077033" cy="1193067"/>
            </a:xfrm>
          </p:grpSpPr>
          <p:sp>
            <p:nvSpPr>
              <p:cNvPr name="Freeform 21" id="21"/>
              <p:cNvSpPr/>
              <p:nvPr/>
            </p:nvSpPr>
            <p:spPr>
              <a:xfrm flipH="false" flipV="false" rot="0">
                <a:off x="0" y="0"/>
                <a:ext cx="1077033" cy="1193067"/>
              </a:xfrm>
              <a:custGeom>
                <a:avLst/>
                <a:gdLst/>
                <a:ahLst/>
                <a:cxnLst/>
                <a:rect r="r" b="b" t="t" l="l"/>
                <a:pathLst>
                  <a:path h="1193067" w="1077033">
                    <a:moveTo>
                      <a:pt x="43086" y="0"/>
                    </a:moveTo>
                    <a:lnTo>
                      <a:pt x="1033947" y="0"/>
                    </a:lnTo>
                    <a:cubicBezTo>
                      <a:pt x="1057743" y="0"/>
                      <a:pt x="1077033" y="19290"/>
                      <a:pt x="1077033" y="43086"/>
                    </a:cubicBezTo>
                    <a:lnTo>
                      <a:pt x="1077033" y="1149981"/>
                    </a:lnTo>
                    <a:cubicBezTo>
                      <a:pt x="1077033" y="1173777"/>
                      <a:pt x="1057743" y="1193067"/>
                      <a:pt x="1033947" y="1193067"/>
                    </a:cubicBezTo>
                    <a:lnTo>
                      <a:pt x="43086" y="1193067"/>
                    </a:lnTo>
                    <a:cubicBezTo>
                      <a:pt x="19290" y="1193067"/>
                      <a:pt x="0" y="1173777"/>
                      <a:pt x="0" y="1149981"/>
                    </a:cubicBezTo>
                    <a:lnTo>
                      <a:pt x="0" y="43086"/>
                    </a:lnTo>
                    <a:cubicBezTo>
                      <a:pt x="0" y="19290"/>
                      <a:pt x="19290" y="0"/>
                      <a:pt x="43086" y="0"/>
                    </a:cubicBezTo>
                    <a:close/>
                  </a:path>
                </a:pathLst>
              </a:custGeom>
              <a:solidFill>
                <a:srgbClr val="ABB8FF"/>
              </a:solidFill>
            </p:spPr>
          </p:sp>
          <p:sp>
            <p:nvSpPr>
              <p:cNvPr name="TextBox 22" id="22"/>
              <p:cNvSpPr txBox="true"/>
              <p:nvPr/>
            </p:nvSpPr>
            <p:spPr>
              <a:xfrm>
                <a:off x="0" y="-28575"/>
                <a:ext cx="1077033" cy="1221642"/>
              </a:xfrm>
              <a:prstGeom prst="rect">
                <a:avLst/>
              </a:prstGeom>
            </p:spPr>
            <p:txBody>
              <a:bodyPr anchor="ctr" rtlCol="false" tIns="50800" lIns="50800" bIns="50800" rIns="50800"/>
              <a:lstStyle/>
              <a:p>
                <a:pPr algn="ctr">
                  <a:lnSpc>
                    <a:spcPts val="1959"/>
                  </a:lnSpc>
                  <a:spcBef>
                    <a:spcPct val="0"/>
                  </a:spcBef>
                </a:pPr>
              </a:p>
            </p:txBody>
          </p:sp>
        </p:grpSp>
        <p:grpSp>
          <p:nvGrpSpPr>
            <p:cNvPr name="Group 23" id="23"/>
            <p:cNvGrpSpPr/>
            <p:nvPr/>
          </p:nvGrpSpPr>
          <p:grpSpPr>
            <a:xfrm rot="0">
              <a:off x="745683" y="946048"/>
              <a:ext cx="5080091" cy="5434757"/>
              <a:chOff x="0" y="0"/>
              <a:chExt cx="1039172" cy="1111722"/>
            </a:xfrm>
          </p:grpSpPr>
          <p:sp>
            <p:nvSpPr>
              <p:cNvPr name="Freeform 24" id="24"/>
              <p:cNvSpPr/>
              <p:nvPr/>
            </p:nvSpPr>
            <p:spPr>
              <a:xfrm flipH="false" flipV="false" rot="0">
                <a:off x="0" y="0"/>
                <a:ext cx="1039172" cy="1111722"/>
              </a:xfrm>
              <a:custGeom>
                <a:avLst/>
                <a:gdLst/>
                <a:ahLst/>
                <a:cxnLst/>
                <a:rect r="r" b="b" t="t" l="l"/>
                <a:pathLst>
                  <a:path h="1111722" w="1039172">
                    <a:moveTo>
                      <a:pt x="25853" y="0"/>
                    </a:moveTo>
                    <a:lnTo>
                      <a:pt x="1013319" y="0"/>
                    </a:lnTo>
                    <a:cubicBezTo>
                      <a:pt x="1027597" y="0"/>
                      <a:pt x="1039172" y="11575"/>
                      <a:pt x="1039172" y="25853"/>
                    </a:cubicBezTo>
                    <a:lnTo>
                      <a:pt x="1039172" y="1085869"/>
                    </a:lnTo>
                    <a:cubicBezTo>
                      <a:pt x="1039172" y="1092725"/>
                      <a:pt x="1036448" y="1099301"/>
                      <a:pt x="1031600" y="1104149"/>
                    </a:cubicBezTo>
                    <a:cubicBezTo>
                      <a:pt x="1026751" y="1108998"/>
                      <a:pt x="1020175" y="1111722"/>
                      <a:pt x="1013319" y="1111722"/>
                    </a:cubicBezTo>
                    <a:lnTo>
                      <a:pt x="25853" y="1111722"/>
                    </a:lnTo>
                    <a:cubicBezTo>
                      <a:pt x="18996" y="1111722"/>
                      <a:pt x="12421" y="1108998"/>
                      <a:pt x="7572" y="1104149"/>
                    </a:cubicBezTo>
                    <a:cubicBezTo>
                      <a:pt x="2724" y="1099301"/>
                      <a:pt x="0" y="1092725"/>
                      <a:pt x="0" y="1085869"/>
                    </a:cubicBezTo>
                    <a:lnTo>
                      <a:pt x="0" y="25853"/>
                    </a:lnTo>
                    <a:cubicBezTo>
                      <a:pt x="0" y="18996"/>
                      <a:pt x="2724" y="12421"/>
                      <a:pt x="7572" y="7572"/>
                    </a:cubicBezTo>
                    <a:cubicBezTo>
                      <a:pt x="12421" y="2724"/>
                      <a:pt x="18996" y="0"/>
                      <a:pt x="25853" y="0"/>
                    </a:cubicBezTo>
                    <a:close/>
                  </a:path>
                </a:pathLst>
              </a:custGeom>
              <a:solidFill>
                <a:srgbClr val="ABB8FF"/>
              </a:solidFill>
              <a:ln w="47625" cap="rnd">
                <a:solidFill>
                  <a:srgbClr val="FBF6F1"/>
                </a:solidFill>
                <a:prstDash val="dash"/>
                <a:round/>
              </a:ln>
            </p:spPr>
          </p:sp>
          <p:sp>
            <p:nvSpPr>
              <p:cNvPr name="TextBox 25" id="25"/>
              <p:cNvSpPr txBox="true"/>
              <p:nvPr/>
            </p:nvSpPr>
            <p:spPr>
              <a:xfrm>
                <a:off x="0" y="-28575"/>
                <a:ext cx="1039172" cy="1140297"/>
              </a:xfrm>
              <a:prstGeom prst="rect">
                <a:avLst/>
              </a:prstGeom>
            </p:spPr>
            <p:txBody>
              <a:bodyPr anchor="ctr" rtlCol="false" tIns="50800" lIns="50800" bIns="50800" rIns="50800"/>
              <a:lstStyle/>
              <a:p>
                <a:pPr algn="ctr">
                  <a:lnSpc>
                    <a:spcPts val="1959"/>
                  </a:lnSpc>
                  <a:spcBef>
                    <a:spcPct val="0"/>
                  </a:spcBef>
                </a:pPr>
              </a:p>
            </p:txBody>
          </p:sp>
        </p:grpSp>
        <p:sp>
          <p:nvSpPr>
            <p:cNvPr name="Freeform 26" id="26"/>
            <p:cNvSpPr/>
            <p:nvPr/>
          </p:nvSpPr>
          <p:spPr>
            <a:xfrm flipH="false" flipV="false" rot="0">
              <a:off x="0" y="0"/>
              <a:ext cx="2040289" cy="2040289"/>
            </a:xfrm>
            <a:custGeom>
              <a:avLst/>
              <a:gdLst/>
              <a:ahLst/>
              <a:cxnLst/>
              <a:rect r="r" b="b" t="t" l="l"/>
              <a:pathLst>
                <a:path h="2040289" w="2040289">
                  <a:moveTo>
                    <a:pt x="0" y="0"/>
                  </a:moveTo>
                  <a:lnTo>
                    <a:pt x="2040289" y="0"/>
                  </a:lnTo>
                  <a:lnTo>
                    <a:pt x="2040289" y="2040289"/>
                  </a:lnTo>
                  <a:lnTo>
                    <a:pt x="0" y="20402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27" id="27"/>
          <p:cNvSpPr txBox="true"/>
          <p:nvPr/>
        </p:nvSpPr>
        <p:spPr>
          <a:xfrm rot="0">
            <a:off x="5292569" y="5172075"/>
            <a:ext cx="3189287" cy="502001"/>
          </a:xfrm>
          <a:prstGeom prst="rect">
            <a:avLst/>
          </a:prstGeom>
        </p:spPr>
        <p:txBody>
          <a:bodyPr anchor="t" rtlCol="false" tIns="0" lIns="0" bIns="0" rIns="0">
            <a:spAutoFit/>
          </a:bodyPr>
          <a:lstStyle/>
          <a:p>
            <a:pPr algn="ctr" marL="0" indent="0" lvl="1">
              <a:lnSpc>
                <a:spcPts val="3802"/>
              </a:lnSpc>
            </a:pPr>
            <a:r>
              <a:rPr lang="en-US" b="true" sz="3488" spc="-167">
                <a:solidFill>
                  <a:srgbClr val="FFFFFF"/>
                </a:solidFill>
                <a:latin typeface="Open Sauce Semi-Bold"/>
                <a:ea typeface="Open Sauce Semi-Bold"/>
                <a:cs typeface="Open Sauce Semi-Bold"/>
                <a:sym typeface="Open Sauce Semi-Bold"/>
              </a:rPr>
              <a:t>Aditya Luthfi</a:t>
            </a:r>
          </a:p>
        </p:txBody>
      </p:sp>
      <p:sp>
        <p:nvSpPr>
          <p:cNvPr name="TextBox 28" id="28"/>
          <p:cNvSpPr txBox="true"/>
          <p:nvPr/>
        </p:nvSpPr>
        <p:spPr>
          <a:xfrm rot="0">
            <a:off x="5292569" y="5889487"/>
            <a:ext cx="3189287" cy="502001"/>
          </a:xfrm>
          <a:prstGeom prst="rect">
            <a:avLst/>
          </a:prstGeom>
        </p:spPr>
        <p:txBody>
          <a:bodyPr anchor="t" rtlCol="false" tIns="0" lIns="0" bIns="0" rIns="0">
            <a:spAutoFit/>
          </a:bodyPr>
          <a:lstStyle/>
          <a:p>
            <a:pPr algn="ctr" marL="0" indent="0" lvl="1">
              <a:lnSpc>
                <a:spcPts val="3802"/>
              </a:lnSpc>
            </a:pPr>
            <a:r>
              <a:rPr lang="en-US" b="true" sz="3488" spc="-167">
                <a:solidFill>
                  <a:srgbClr val="FFFFFF"/>
                </a:solidFill>
                <a:latin typeface="Open Sauce Semi-Bold"/>
                <a:ea typeface="Open Sauce Semi-Bold"/>
                <a:cs typeface="Open Sauce Semi-Bold"/>
                <a:sym typeface="Open Sauce Semi-Bold"/>
              </a:rPr>
              <a:t>15 - 2024 -139</a:t>
            </a:r>
          </a:p>
        </p:txBody>
      </p:sp>
      <p:sp>
        <p:nvSpPr>
          <p:cNvPr name="TextBox 29" id="29"/>
          <p:cNvSpPr txBox="true"/>
          <p:nvPr/>
        </p:nvSpPr>
        <p:spPr>
          <a:xfrm rot="0">
            <a:off x="10336843" y="4931175"/>
            <a:ext cx="3189287" cy="983800"/>
          </a:xfrm>
          <a:prstGeom prst="rect">
            <a:avLst/>
          </a:prstGeom>
        </p:spPr>
        <p:txBody>
          <a:bodyPr anchor="t" rtlCol="false" tIns="0" lIns="0" bIns="0" rIns="0">
            <a:spAutoFit/>
          </a:bodyPr>
          <a:lstStyle/>
          <a:p>
            <a:pPr algn="ctr" marL="0" indent="0" lvl="1">
              <a:lnSpc>
                <a:spcPts val="3802"/>
              </a:lnSpc>
            </a:pPr>
            <a:r>
              <a:rPr lang="en-US" b="true" sz="3488" spc="-167">
                <a:solidFill>
                  <a:srgbClr val="FFFFFF"/>
                </a:solidFill>
                <a:latin typeface="Open Sauce Semi-Bold"/>
                <a:ea typeface="Open Sauce Semi-Bold"/>
                <a:cs typeface="Open Sauce Semi-Bold"/>
                <a:sym typeface="Open Sauce Semi-Bold"/>
              </a:rPr>
              <a:t>Robi Rizki Permana</a:t>
            </a:r>
          </a:p>
        </p:txBody>
      </p:sp>
      <p:sp>
        <p:nvSpPr>
          <p:cNvPr name="TextBox 30" id="30"/>
          <p:cNvSpPr txBox="true"/>
          <p:nvPr/>
        </p:nvSpPr>
        <p:spPr>
          <a:xfrm rot="0">
            <a:off x="10457784" y="5889487"/>
            <a:ext cx="3189287" cy="502001"/>
          </a:xfrm>
          <a:prstGeom prst="rect">
            <a:avLst/>
          </a:prstGeom>
        </p:spPr>
        <p:txBody>
          <a:bodyPr anchor="t" rtlCol="false" tIns="0" lIns="0" bIns="0" rIns="0">
            <a:spAutoFit/>
          </a:bodyPr>
          <a:lstStyle/>
          <a:p>
            <a:pPr algn="ctr" marL="0" indent="0" lvl="1">
              <a:lnSpc>
                <a:spcPts val="3802"/>
              </a:lnSpc>
            </a:pPr>
            <a:r>
              <a:rPr lang="en-US" b="true" sz="3488" spc="-167">
                <a:solidFill>
                  <a:srgbClr val="FFFFFF"/>
                </a:solidFill>
                <a:latin typeface="Open Sauce Semi-Bold"/>
                <a:ea typeface="Open Sauce Semi-Bold"/>
                <a:cs typeface="Open Sauce Semi-Bold"/>
                <a:sym typeface="Open Sauce Semi-Bold"/>
              </a:rPr>
              <a:t>15 - 2024 - 141</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6246D"/>
        </a:solidFill>
      </p:bgPr>
    </p:bg>
    <p:spTree>
      <p:nvGrpSpPr>
        <p:cNvPr id="1" name=""/>
        <p:cNvGrpSpPr/>
        <p:nvPr/>
      </p:nvGrpSpPr>
      <p:grpSpPr>
        <a:xfrm>
          <a:off x="0" y="0"/>
          <a:ext cx="0" cy="0"/>
          <a:chOff x="0" y="0"/>
          <a:chExt cx="0" cy="0"/>
        </a:xfrm>
      </p:grpSpPr>
      <p:grpSp>
        <p:nvGrpSpPr>
          <p:cNvPr name="Group 2" id="2"/>
          <p:cNvGrpSpPr/>
          <p:nvPr/>
        </p:nvGrpSpPr>
        <p:grpSpPr>
          <a:xfrm rot="0">
            <a:off x="9919690" y="1274028"/>
            <a:ext cx="6722442" cy="2428097"/>
            <a:chOff x="0" y="0"/>
            <a:chExt cx="5470564" cy="1975928"/>
          </a:xfrm>
        </p:grpSpPr>
        <p:sp>
          <p:nvSpPr>
            <p:cNvPr name="Freeform 3" id="3"/>
            <p:cNvSpPr/>
            <p:nvPr/>
          </p:nvSpPr>
          <p:spPr>
            <a:xfrm flipH="false" flipV="false" rot="0">
              <a:off x="0" y="0"/>
              <a:ext cx="5470564" cy="1975927"/>
            </a:xfrm>
            <a:custGeom>
              <a:avLst/>
              <a:gdLst/>
              <a:ahLst/>
              <a:cxnLst/>
              <a:rect r="r" b="b" t="t" l="l"/>
              <a:pathLst>
                <a:path h="1975927" w="5470564">
                  <a:moveTo>
                    <a:pt x="43763" y="0"/>
                  </a:moveTo>
                  <a:lnTo>
                    <a:pt x="5426801" y="0"/>
                  </a:lnTo>
                  <a:cubicBezTo>
                    <a:pt x="5438408" y="0"/>
                    <a:pt x="5449539" y="4611"/>
                    <a:pt x="5457746" y="12818"/>
                  </a:cubicBezTo>
                  <a:cubicBezTo>
                    <a:pt x="5465954" y="21025"/>
                    <a:pt x="5470564" y="32156"/>
                    <a:pt x="5470564" y="43763"/>
                  </a:cubicBezTo>
                  <a:lnTo>
                    <a:pt x="5470564" y="1932165"/>
                  </a:lnTo>
                  <a:cubicBezTo>
                    <a:pt x="5470564" y="1956334"/>
                    <a:pt x="5450971" y="1975927"/>
                    <a:pt x="5426801" y="1975927"/>
                  </a:cubicBezTo>
                  <a:lnTo>
                    <a:pt x="43763" y="1975927"/>
                  </a:lnTo>
                  <a:cubicBezTo>
                    <a:pt x="19593" y="1975927"/>
                    <a:pt x="0" y="1956334"/>
                    <a:pt x="0" y="1932165"/>
                  </a:cubicBezTo>
                  <a:lnTo>
                    <a:pt x="0" y="43763"/>
                  </a:lnTo>
                  <a:cubicBezTo>
                    <a:pt x="0" y="19593"/>
                    <a:pt x="19593" y="0"/>
                    <a:pt x="43763" y="0"/>
                  </a:cubicBezTo>
                  <a:close/>
                </a:path>
              </a:pathLst>
            </a:custGeom>
            <a:solidFill>
              <a:srgbClr val="7A8FFA"/>
            </a:solidFill>
          </p:spPr>
        </p:sp>
        <p:sp>
          <p:nvSpPr>
            <p:cNvPr name="TextBox 4" id="4"/>
            <p:cNvSpPr txBox="true"/>
            <p:nvPr/>
          </p:nvSpPr>
          <p:spPr>
            <a:xfrm>
              <a:off x="0" y="-28575"/>
              <a:ext cx="5470564" cy="2004503"/>
            </a:xfrm>
            <a:prstGeom prst="rect">
              <a:avLst/>
            </a:prstGeom>
          </p:spPr>
          <p:txBody>
            <a:bodyPr anchor="ctr" rtlCol="false" tIns="50800" lIns="50800" bIns="50800" rIns="50800"/>
            <a:lstStyle/>
            <a:p>
              <a:pPr algn="ctr">
                <a:lnSpc>
                  <a:spcPts val="1960"/>
                </a:lnSpc>
                <a:spcBef>
                  <a:spcPct val="0"/>
                </a:spcBef>
              </a:pPr>
            </a:p>
          </p:txBody>
        </p:sp>
      </p:grpSp>
      <p:grpSp>
        <p:nvGrpSpPr>
          <p:cNvPr name="Group 5" id="5"/>
          <p:cNvGrpSpPr/>
          <p:nvPr/>
        </p:nvGrpSpPr>
        <p:grpSpPr>
          <a:xfrm rot="0">
            <a:off x="9919690" y="3930724"/>
            <a:ext cx="6722442" cy="2428097"/>
            <a:chOff x="0" y="0"/>
            <a:chExt cx="5470564" cy="1975928"/>
          </a:xfrm>
        </p:grpSpPr>
        <p:sp>
          <p:nvSpPr>
            <p:cNvPr name="Freeform 6" id="6"/>
            <p:cNvSpPr/>
            <p:nvPr/>
          </p:nvSpPr>
          <p:spPr>
            <a:xfrm flipH="false" flipV="false" rot="0">
              <a:off x="0" y="0"/>
              <a:ext cx="5470564" cy="1975927"/>
            </a:xfrm>
            <a:custGeom>
              <a:avLst/>
              <a:gdLst/>
              <a:ahLst/>
              <a:cxnLst/>
              <a:rect r="r" b="b" t="t" l="l"/>
              <a:pathLst>
                <a:path h="1975927" w="5470564">
                  <a:moveTo>
                    <a:pt x="43763" y="0"/>
                  </a:moveTo>
                  <a:lnTo>
                    <a:pt x="5426801" y="0"/>
                  </a:lnTo>
                  <a:cubicBezTo>
                    <a:pt x="5438408" y="0"/>
                    <a:pt x="5449539" y="4611"/>
                    <a:pt x="5457746" y="12818"/>
                  </a:cubicBezTo>
                  <a:cubicBezTo>
                    <a:pt x="5465954" y="21025"/>
                    <a:pt x="5470564" y="32156"/>
                    <a:pt x="5470564" y="43763"/>
                  </a:cubicBezTo>
                  <a:lnTo>
                    <a:pt x="5470564" y="1932165"/>
                  </a:lnTo>
                  <a:cubicBezTo>
                    <a:pt x="5470564" y="1956334"/>
                    <a:pt x="5450971" y="1975927"/>
                    <a:pt x="5426801" y="1975927"/>
                  </a:cubicBezTo>
                  <a:lnTo>
                    <a:pt x="43763" y="1975927"/>
                  </a:lnTo>
                  <a:cubicBezTo>
                    <a:pt x="19593" y="1975927"/>
                    <a:pt x="0" y="1956334"/>
                    <a:pt x="0" y="1932165"/>
                  </a:cubicBezTo>
                  <a:lnTo>
                    <a:pt x="0" y="43763"/>
                  </a:lnTo>
                  <a:cubicBezTo>
                    <a:pt x="0" y="19593"/>
                    <a:pt x="19593" y="0"/>
                    <a:pt x="43763" y="0"/>
                  </a:cubicBezTo>
                  <a:close/>
                </a:path>
              </a:pathLst>
            </a:custGeom>
            <a:solidFill>
              <a:srgbClr val="5065D8"/>
            </a:solidFill>
          </p:spPr>
        </p:sp>
        <p:sp>
          <p:nvSpPr>
            <p:cNvPr name="TextBox 7" id="7"/>
            <p:cNvSpPr txBox="true"/>
            <p:nvPr/>
          </p:nvSpPr>
          <p:spPr>
            <a:xfrm>
              <a:off x="0" y="-28575"/>
              <a:ext cx="5470564" cy="2004503"/>
            </a:xfrm>
            <a:prstGeom prst="rect">
              <a:avLst/>
            </a:prstGeom>
          </p:spPr>
          <p:txBody>
            <a:bodyPr anchor="ctr" rtlCol="false" tIns="50800" lIns="50800" bIns="50800" rIns="50800"/>
            <a:lstStyle/>
            <a:p>
              <a:pPr algn="ctr">
                <a:lnSpc>
                  <a:spcPts val="1960"/>
                </a:lnSpc>
                <a:spcBef>
                  <a:spcPct val="0"/>
                </a:spcBef>
              </a:pPr>
            </a:p>
          </p:txBody>
        </p:sp>
      </p:grpSp>
      <p:grpSp>
        <p:nvGrpSpPr>
          <p:cNvPr name="Group 8" id="8"/>
          <p:cNvGrpSpPr/>
          <p:nvPr/>
        </p:nvGrpSpPr>
        <p:grpSpPr>
          <a:xfrm rot="0">
            <a:off x="9919690" y="6584876"/>
            <a:ext cx="6722442" cy="2428097"/>
            <a:chOff x="0" y="0"/>
            <a:chExt cx="5470564" cy="1975928"/>
          </a:xfrm>
        </p:grpSpPr>
        <p:sp>
          <p:nvSpPr>
            <p:cNvPr name="Freeform 9" id="9"/>
            <p:cNvSpPr/>
            <p:nvPr/>
          </p:nvSpPr>
          <p:spPr>
            <a:xfrm flipH="false" flipV="false" rot="0">
              <a:off x="0" y="0"/>
              <a:ext cx="5470564" cy="1975927"/>
            </a:xfrm>
            <a:custGeom>
              <a:avLst/>
              <a:gdLst/>
              <a:ahLst/>
              <a:cxnLst/>
              <a:rect r="r" b="b" t="t" l="l"/>
              <a:pathLst>
                <a:path h="1975927" w="5470564">
                  <a:moveTo>
                    <a:pt x="43763" y="0"/>
                  </a:moveTo>
                  <a:lnTo>
                    <a:pt x="5426801" y="0"/>
                  </a:lnTo>
                  <a:cubicBezTo>
                    <a:pt x="5438408" y="0"/>
                    <a:pt x="5449539" y="4611"/>
                    <a:pt x="5457746" y="12818"/>
                  </a:cubicBezTo>
                  <a:cubicBezTo>
                    <a:pt x="5465954" y="21025"/>
                    <a:pt x="5470564" y="32156"/>
                    <a:pt x="5470564" y="43763"/>
                  </a:cubicBezTo>
                  <a:lnTo>
                    <a:pt x="5470564" y="1932165"/>
                  </a:lnTo>
                  <a:cubicBezTo>
                    <a:pt x="5470564" y="1956334"/>
                    <a:pt x="5450971" y="1975927"/>
                    <a:pt x="5426801" y="1975927"/>
                  </a:cubicBezTo>
                  <a:lnTo>
                    <a:pt x="43763" y="1975927"/>
                  </a:lnTo>
                  <a:cubicBezTo>
                    <a:pt x="19593" y="1975927"/>
                    <a:pt x="0" y="1956334"/>
                    <a:pt x="0" y="1932165"/>
                  </a:cubicBezTo>
                  <a:lnTo>
                    <a:pt x="0" y="43763"/>
                  </a:lnTo>
                  <a:cubicBezTo>
                    <a:pt x="0" y="19593"/>
                    <a:pt x="19593" y="0"/>
                    <a:pt x="43763" y="0"/>
                  </a:cubicBezTo>
                  <a:close/>
                </a:path>
              </a:pathLst>
            </a:custGeom>
            <a:solidFill>
              <a:srgbClr val="374BB8"/>
            </a:solidFill>
          </p:spPr>
        </p:sp>
        <p:sp>
          <p:nvSpPr>
            <p:cNvPr name="TextBox 10" id="10"/>
            <p:cNvSpPr txBox="true"/>
            <p:nvPr/>
          </p:nvSpPr>
          <p:spPr>
            <a:xfrm>
              <a:off x="0" y="-28575"/>
              <a:ext cx="5470564" cy="2004503"/>
            </a:xfrm>
            <a:prstGeom prst="rect">
              <a:avLst/>
            </a:prstGeom>
          </p:spPr>
          <p:txBody>
            <a:bodyPr anchor="ctr" rtlCol="false" tIns="50800" lIns="50800" bIns="50800" rIns="50800"/>
            <a:lstStyle/>
            <a:p>
              <a:pPr algn="ctr">
                <a:lnSpc>
                  <a:spcPts val="1960"/>
                </a:lnSpc>
                <a:spcBef>
                  <a:spcPct val="0"/>
                </a:spcBef>
              </a:pPr>
            </a:p>
          </p:txBody>
        </p:sp>
      </p:grpSp>
      <p:sp>
        <p:nvSpPr>
          <p:cNvPr name="TextBox 11" id="11"/>
          <p:cNvSpPr txBox="true"/>
          <p:nvPr/>
        </p:nvSpPr>
        <p:spPr>
          <a:xfrm rot="0">
            <a:off x="1425404" y="3880861"/>
            <a:ext cx="7718596" cy="1832322"/>
          </a:xfrm>
          <a:prstGeom prst="rect">
            <a:avLst/>
          </a:prstGeom>
        </p:spPr>
        <p:txBody>
          <a:bodyPr anchor="t" rtlCol="false" tIns="0" lIns="0" bIns="0" rIns="0">
            <a:spAutoFit/>
          </a:bodyPr>
          <a:lstStyle/>
          <a:p>
            <a:pPr algn="l" marL="0" indent="0" lvl="1">
              <a:lnSpc>
                <a:spcPts val="7142"/>
              </a:lnSpc>
            </a:pPr>
            <a:r>
              <a:rPr lang="en-US" b="true" sz="6264" spc="-300">
                <a:solidFill>
                  <a:srgbClr val="FBF6F1"/>
                </a:solidFill>
                <a:latin typeface="Open Sauce Semi-Bold"/>
                <a:ea typeface="Open Sauce Semi-Bold"/>
                <a:cs typeface="Open Sauce Semi-Bold"/>
                <a:sym typeface="Open Sauce Semi-Bold"/>
              </a:rPr>
              <a:t>La</a:t>
            </a:r>
            <a:r>
              <a:rPr lang="en-US" b="true" sz="6264" spc="-300">
                <a:solidFill>
                  <a:srgbClr val="FBF6F1"/>
                </a:solidFill>
                <a:latin typeface="Open Sauce Semi-Bold"/>
                <a:ea typeface="Open Sauce Semi-Bold"/>
                <a:cs typeface="Open Sauce Semi-Bold"/>
                <a:sym typeface="Open Sauce Semi-Bold"/>
              </a:rPr>
              <a:t>tar Belakang &amp; Urgensi</a:t>
            </a:r>
          </a:p>
        </p:txBody>
      </p:sp>
      <p:sp>
        <p:nvSpPr>
          <p:cNvPr name="TextBox 12" id="12"/>
          <p:cNvSpPr txBox="true"/>
          <p:nvPr/>
        </p:nvSpPr>
        <p:spPr>
          <a:xfrm rot="0">
            <a:off x="1425404" y="5962781"/>
            <a:ext cx="7718596" cy="740412"/>
          </a:xfrm>
          <a:prstGeom prst="rect">
            <a:avLst/>
          </a:prstGeom>
        </p:spPr>
        <p:txBody>
          <a:bodyPr anchor="t" rtlCol="false" tIns="0" lIns="0" bIns="0" rIns="0">
            <a:spAutoFit/>
          </a:bodyPr>
          <a:lstStyle/>
          <a:p>
            <a:pPr algn="l" marL="0" indent="0" lvl="0">
              <a:lnSpc>
                <a:spcPts val="3036"/>
              </a:lnSpc>
            </a:pPr>
            <a:r>
              <a:rPr lang="en-US" b="true" sz="2168" spc="6">
                <a:solidFill>
                  <a:srgbClr val="FFDE59"/>
                </a:solidFill>
                <a:latin typeface="Open Sauce Bold"/>
                <a:ea typeface="Open Sauce Bold"/>
                <a:cs typeface="Open Sauce Bold"/>
                <a:sym typeface="Open Sauce Bold"/>
              </a:rPr>
              <a:t>M</a:t>
            </a:r>
            <a:r>
              <a:rPr lang="en-US" b="true" sz="2168" spc="6" u="none">
                <a:solidFill>
                  <a:srgbClr val="FFDE59"/>
                </a:solidFill>
                <a:latin typeface="Open Sauce Bold"/>
                <a:ea typeface="Open Sauce Bold"/>
                <a:cs typeface="Open Sauce Bold"/>
                <a:sym typeface="Open Sauce Bold"/>
              </a:rPr>
              <a:t>engapa Kita Membutuhkan Model Estimasi?</a:t>
            </a:r>
          </a:p>
          <a:p>
            <a:pPr algn="l" marL="0" indent="0" lvl="0">
              <a:lnSpc>
                <a:spcPts val="3036"/>
              </a:lnSpc>
            </a:pPr>
          </a:p>
        </p:txBody>
      </p:sp>
      <p:sp>
        <p:nvSpPr>
          <p:cNvPr name="TextBox 13" id="13"/>
          <p:cNvSpPr txBox="true"/>
          <p:nvPr/>
        </p:nvSpPr>
        <p:spPr>
          <a:xfrm rot="0">
            <a:off x="10391683" y="2068847"/>
            <a:ext cx="1188831" cy="914658"/>
          </a:xfrm>
          <a:prstGeom prst="rect">
            <a:avLst/>
          </a:prstGeom>
        </p:spPr>
        <p:txBody>
          <a:bodyPr anchor="t" rtlCol="false" tIns="0" lIns="0" bIns="0" rIns="0">
            <a:spAutoFit/>
          </a:bodyPr>
          <a:lstStyle/>
          <a:p>
            <a:pPr algn="ctr" marL="0" indent="0" lvl="0">
              <a:lnSpc>
                <a:spcPts val="6028"/>
              </a:lnSpc>
              <a:spcBef>
                <a:spcPct val="0"/>
              </a:spcBef>
            </a:pPr>
            <a:r>
              <a:rPr lang="en-US" sz="6552" spc="-268">
                <a:solidFill>
                  <a:srgbClr val="FFFFFF"/>
                </a:solidFill>
                <a:latin typeface="Codec Pro"/>
                <a:ea typeface="Codec Pro"/>
                <a:cs typeface="Codec Pro"/>
                <a:sym typeface="Codec Pro"/>
              </a:rPr>
              <a:t>01</a:t>
            </a:r>
          </a:p>
        </p:txBody>
      </p:sp>
      <p:sp>
        <p:nvSpPr>
          <p:cNvPr name="TextBox 14" id="14"/>
          <p:cNvSpPr txBox="true"/>
          <p:nvPr/>
        </p:nvSpPr>
        <p:spPr>
          <a:xfrm rot="0">
            <a:off x="12096240" y="1736363"/>
            <a:ext cx="4089467" cy="598551"/>
          </a:xfrm>
          <a:prstGeom prst="rect">
            <a:avLst/>
          </a:prstGeom>
        </p:spPr>
        <p:txBody>
          <a:bodyPr anchor="t" rtlCol="false" tIns="0" lIns="0" bIns="0" rIns="0">
            <a:spAutoFit/>
          </a:bodyPr>
          <a:lstStyle/>
          <a:p>
            <a:pPr algn="l" marL="0" indent="0" lvl="0">
              <a:lnSpc>
                <a:spcPts val="2322"/>
              </a:lnSpc>
            </a:pPr>
            <a:r>
              <a:rPr lang="en-US" b="true" sz="1800">
                <a:solidFill>
                  <a:srgbClr val="FFDE59"/>
                </a:solidFill>
                <a:latin typeface="Codec Pro Bold"/>
                <a:ea typeface="Codec Pro Bold"/>
                <a:cs typeface="Codec Pro Bold"/>
                <a:sym typeface="Codec Pro Bold"/>
              </a:rPr>
              <a:t>E</a:t>
            </a:r>
            <a:r>
              <a:rPr lang="en-US" b="true" sz="1800" u="none">
                <a:solidFill>
                  <a:srgbClr val="FFDE59"/>
                </a:solidFill>
                <a:latin typeface="Codec Pro Bold"/>
                <a:ea typeface="Codec Pro Bold"/>
                <a:cs typeface="Codec Pro Bold"/>
                <a:sym typeface="Codec Pro Bold"/>
              </a:rPr>
              <a:t>ra Big Data</a:t>
            </a:r>
          </a:p>
          <a:p>
            <a:pPr algn="l" marL="0" indent="0" lvl="0">
              <a:lnSpc>
                <a:spcPts val="2322"/>
              </a:lnSpc>
            </a:pPr>
          </a:p>
        </p:txBody>
      </p:sp>
      <p:sp>
        <p:nvSpPr>
          <p:cNvPr name="TextBox 15" id="15"/>
          <p:cNvSpPr txBox="true"/>
          <p:nvPr/>
        </p:nvSpPr>
        <p:spPr>
          <a:xfrm rot="0">
            <a:off x="10385262" y="4725544"/>
            <a:ext cx="1188831" cy="914658"/>
          </a:xfrm>
          <a:prstGeom prst="rect">
            <a:avLst/>
          </a:prstGeom>
        </p:spPr>
        <p:txBody>
          <a:bodyPr anchor="t" rtlCol="false" tIns="0" lIns="0" bIns="0" rIns="0">
            <a:spAutoFit/>
          </a:bodyPr>
          <a:lstStyle/>
          <a:p>
            <a:pPr algn="ctr" marL="0" indent="0" lvl="0">
              <a:lnSpc>
                <a:spcPts val="6028"/>
              </a:lnSpc>
              <a:spcBef>
                <a:spcPct val="0"/>
              </a:spcBef>
            </a:pPr>
            <a:r>
              <a:rPr lang="en-US" sz="6552" spc="-268">
                <a:solidFill>
                  <a:srgbClr val="FFFFFF"/>
                </a:solidFill>
                <a:latin typeface="Codec Pro"/>
                <a:ea typeface="Codec Pro"/>
                <a:cs typeface="Codec Pro"/>
                <a:sym typeface="Codec Pro"/>
              </a:rPr>
              <a:t>02</a:t>
            </a:r>
          </a:p>
        </p:txBody>
      </p:sp>
      <p:sp>
        <p:nvSpPr>
          <p:cNvPr name="TextBox 16" id="16"/>
          <p:cNvSpPr txBox="true"/>
          <p:nvPr/>
        </p:nvSpPr>
        <p:spPr>
          <a:xfrm rot="0">
            <a:off x="12096240" y="4393060"/>
            <a:ext cx="4089467" cy="598551"/>
          </a:xfrm>
          <a:prstGeom prst="rect">
            <a:avLst/>
          </a:prstGeom>
        </p:spPr>
        <p:txBody>
          <a:bodyPr anchor="t" rtlCol="false" tIns="0" lIns="0" bIns="0" rIns="0">
            <a:spAutoFit/>
          </a:bodyPr>
          <a:lstStyle/>
          <a:p>
            <a:pPr algn="l" marL="0" indent="0" lvl="0">
              <a:lnSpc>
                <a:spcPts val="2322"/>
              </a:lnSpc>
            </a:pPr>
            <a:r>
              <a:rPr lang="en-US" b="true" sz="1800">
                <a:solidFill>
                  <a:srgbClr val="FFDE59"/>
                </a:solidFill>
                <a:latin typeface="Codec Pro Bold"/>
                <a:ea typeface="Codec Pro Bold"/>
                <a:cs typeface="Codec Pro Bold"/>
                <a:sym typeface="Codec Pro Bold"/>
              </a:rPr>
              <a:t>A</a:t>
            </a:r>
            <a:r>
              <a:rPr lang="en-US" b="true" sz="1800" u="none">
                <a:solidFill>
                  <a:srgbClr val="FFDE59"/>
                </a:solidFill>
                <a:latin typeface="Codec Pro Bold"/>
                <a:ea typeface="Codec Pro Bold"/>
                <a:cs typeface="Codec Pro Bold"/>
                <a:sym typeface="Codec Pro Bold"/>
              </a:rPr>
              <a:t>nalitik Prediktif</a:t>
            </a:r>
          </a:p>
          <a:p>
            <a:pPr algn="l" marL="0" indent="0" lvl="0">
              <a:lnSpc>
                <a:spcPts val="2322"/>
              </a:lnSpc>
            </a:pPr>
          </a:p>
        </p:txBody>
      </p:sp>
      <p:sp>
        <p:nvSpPr>
          <p:cNvPr name="TextBox 17" id="17"/>
          <p:cNvSpPr txBox="true"/>
          <p:nvPr/>
        </p:nvSpPr>
        <p:spPr>
          <a:xfrm rot="0">
            <a:off x="10385262" y="7379695"/>
            <a:ext cx="1188831" cy="914658"/>
          </a:xfrm>
          <a:prstGeom prst="rect">
            <a:avLst/>
          </a:prstGeom>
        </p:spPr>
        <p:txBody>
          <a:bodyPr anchor="t" rtlCol="false" tIns="0" lIns="0" bIns="0" rIns="0">
            <a:spAutoFit/>
          </a:bodyPr>
          <a:lstStyle/>
          <a:p>
            <a:pPr algn="ctr" marL="0" indent="0" lvl="0">
              <a:lnSpc>
                <a:spcPts val="6028"/>
              </a:lnSpc>
              <a:spcBef>
                <a:spcPct val="0"/>
              </a:spcBef>
            </a:pPr>
            <a:r>
              <a:rPr lang="en-US" sz="6552" spc="-268">
                <a:solidFill>
                  <a:srgbClr val="FFFFFF"/>
                </a:solidFill>
                <a:latin typeface="Codec Pro"/>
                <a:ea typeface="Codec Pro"/>
                <a:cs typeface="Codec Pro"/>
                <a:sym typeface="Codec Pro"/>
              </a:rPr>
              <a:t>03</a:t>
            </a:r>
          </a:p>
        </p:txBody>
      </p:sp>
      <p:sp>
        <p:nvSpPr>
          <p:cNvPr name="TextBox 18" id="18"/>
          <p:cNvSpPr txBox="true"/>
          <p:nvPr/>
        </p:nvSpPr>
        <p:spPr>
          <a:xfrm rot="0">
            <a:off x="12096240" y="7047211"/>
            <a:ext cx="4089467" cy="598551"/>
          </a:xfrm>
          <a:prstGeom prst="rect">
            <a:avLst/>
          </a:prstGeom>
        </p:spPr>
        <p:txBody>
          <a:bodyPr anchor="t" rtlCol="false" tIns="0" lIns="0" bIns="0" rIns="0">
            <a:spAutoFit/>
          </a:bodyPr>
          <a:lstStyle/>
          <a:p>
            <a:pPr algn="l" marL="0" indent="0" lvl="0">
              <a:lnSpc>
                <a:spcPts val="2322"/>
              </a:lnSpc>
            </a:pPr>
            <a:r>
              <a:rPr lang="en-US" b="true" sz="1800">
                <a:solidFill>
                  <a:srgbClr val="FFDE59"/>
                </a:solidFill>
                <a:latin typeface="Codec Pro Bold"/>
                <a:ea typeface="Codec Pro Bold"/>
                <a:cs typeface="Codec Pro Bold"/>
                <a:sym typeface="Codec Pro Bold"/>
              </a:rPr>
              <a:t>D</a:t>
            </a:r>
            <a:r>
              <a:rPr lang="en-US" b="true" sz="1800" u="none">
                <a:solidFill>
                  <a:srgbClr val="FFDE59"/>
                </a:solidFill>
                <a:latin typeface="Codec Pro Bold"/>
                <a:ea typeface="Codec Pro Bold"/>
                <a:cs typeface="Codec Pro Bold"/>
                <a:sym typeface="Codec Pro Bold"/>
              </a:rPr>
              <a:t>ata-Driven</a:t>
            </a:r>
          </a:p>
          <a:p>
            <a:pPr algn="l" marL="0" indent="0" lvl="0">
              <a:lnSpc>
                <a:spcPts val="2322"/>
              </a:lnSpc>
            </a:pPr>
          </a:p>
        </p:txBody>
      </p:sp>
      <p:sp>
        <p:nvSpPr>
          <p:cNvPr name="TextBox 19" id="19"/>
          <p:cNvSpPr txBox="true"/>
          <p:nvPr/>
        </p:nvSpPr>
        <p:spPr>
          <a:xfrm rot="0">
            <a:off x="12096240" y="2164988"/>
            <a:ext cx="4089467" cy="884301"/>
          </a:xfrm>
          <a:prstGeom prst="rect">
            <a:avLst/>
          </a:prstGeom>
        </p:spPr>
        <p:txBody>
          <a:bodyPr anchor="t" rtlCol="false" tIns="0" lIns="0" bIns="0" rIns="0">
            <a:spAutoFit/>
          </a:bodyPr>
          <a:lstStyle/>
          <a:p>
            <a:pPr algn="l" marL="0" indent="0" lvl="0">
              <a:lnSpc>
                <a:spcPts val="2322"/>
              </a:lnSpc>
            </a:pPr>
            <a:r>
              <a:rPr lang="en-US" b="true" sz="1800">
                <a:solidFill>
                  <a:srgbClr val="FFFFFF"/>
                </a:solidFill>
                <a:latin typeface="Codec Pro Bold"/>
                <a:ea typeface="Codec Pro Bold"/>
                <a:cs typeface="Codec Pro Bold"/>
                <a:sym typeface="Codec Pro Bold"/>
              </a:rPr>
              <a:t>Kebutuhan mendesak mengekstraksi informasi be</a:t>
            </a:r>
            <a:r>
              <a:rPr lang="en-US" b="true" sz="1800" u="none">
                <a:solidFill>
                  <a:srgbClr val="FFFFFF"/>
                </a:solidFill>
                <a:latin typeface="Codec Pro Bold"/>
                <a:ea typeface="Codec Pro Bold"/>
                <a:cs typeface="Codec Pro Bold"/>
                <a:sym typeface="Codec Pro Bold"/>
              </a:rPr>
              <a:t>rnilai dari volume data berskala masif.</a:t>
            </a:r>
          </a:p>
        </p:txBody>
      </p:sp>
      <p:sp>
        <p:nvSpPr>
          <p:cNvPr name="TextBox 20" id="20"/>
          <p:cNvSpPr txBox="true"/>
          <p:nvPr/>
        </p:nvSpPr>
        <p:spPr>
          <a:xfrm rot="0">
            <a:off x="12096240" y="4811776"/>
            <a:ext cx="4089467" cy="884301"/>
          </a:xfrm>
          <a:prstGeom prst="rect">
            <a:avLst/>
          </a:prstGeom>
        </p:spPr>
        <p:txBody>
          <a:bodyPr anchor="t" rtlCol="false" tIns="0" lIns="0" bIns="0" rIns="0">
            <a:spAutoFit/>
          </a:bodyPr>
          <a:lstStyle/>
          <a:p>
            <a:pPr algn="l" marL="0" indent="0" lvl="0">
              <a:lnSpc>
                <a:spcPts val="2322"/>
              </a:lnSpc>
            </a:pPr>
            <a:r>
              <a:rPr lang="en-US" b="true" sz="1800">
                <a:solidFill>
                  <a:srgbClr val="FFFFFF"/>
                </a:solidFill>
                <a:latin typeface="Codec Pro Bold"/>
                <a:ea typeface="Codec Pro Bold"/>
                <a:cs typeface="Codec Pro Bold"/>
                <a:sym typeface="Codec Pro Bold"/>
              </a:rPr>
              <a:t>Kemampua</a:t>
            </a:r>
            <a:r>
              <a:rPr lang="en-US" b="true" sz="1800" u="none">
                <a:solidFill>
                  <a:srgbClr val="FFFFFF"/>
                </a:solidFill>
                <a:latin typeface="Codec Pro Bold"/>
                <a:ea typeface="Codec Pro Bold"/>
                <a:cs typeface="Codec Pro Bold"/>
                <a:sym typeface="Codec Pro Bold"/>
              </a:rPr>
              <a:t>n memproyeksikan nilai di masa depan secara presisi berdasarkan tren historis.</a:t>
            </a:r>
          </a:p>
        </p:txBody>
      </p:sp>
      <p:sp>
        <p:nvSpPr>
          <p:cNvPr name="TextBox 21" id="21"/>
          <p:cNvSpPr txBox="true"/>
          <p:nvPr/>
        </p:nvSpPr>
        <p:spPr>
          <a:xfrm rot="0">
            <a:off x="12096240" y="7475836"/>
            <a:ext cx="4089467" cy="884301"/>
          </a:xfrm>
          <a:prstGeom prst="rect">
            <a:avLst/>
          </a:prstGeom>
        </p:spPr>
        <p:txBody>
          <a:bodyPr anchor="t" rtlCol="false" tIns="0" lIns="0" bIns="0" rIns="0">
            <a:spAutoFit/>
          </a:bodyPr>
          <a:lstStyle/>
          <a:p>
            <a:pPr algn="l" marL="0" indent="0" lvl="0">
              <a:lnSpc>
                <a:spcPts val="2322"/>
              </a:lnSpc>
            </a:pPr>
            <a:r>
              <a:rPr lang="en-US" b="true" sz="1800">
                <a:solidFill>
                  <a:srgbClr val="FFFFFF"/>
                </a:solidFill>
                <a:latin typeface="Codec Pro Bold"/>
                <a:ea typeface="Codec Pro Bold"/>
                <a:cs typeface="Codec Pro Bold"/>
                <a:sym typeface="Codec Pro Bold"/>
              </a:rPr>
              <a:t>Peng</a:t>
            </a:r>
            <a:r>
              <a:rPr lang="en-US" b="true" sz="1800" u="none">
                <a:solidFill>
                  <a:srgbClr val="FFFFFF"/>
                </a:solidFill>
                <a:latin typeface="Codec Pro Bold"/>
                <a:ea typeface="Codec Pro Bold"/>
                <a:cs typeface="Codec Pro Bold"/>
                <a:sym typeface="Codec Pro Bold"/>
              </a:rPr>
              <a:t>ambilan keputusan strategis bisnis tidak lagi berdasar insting, melainkan bukti matematis.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6246D"/>
        </a:solidFill>
      </p:bgPr>
    </p:bg>
    <p:spTree>
      <p:nvGrpSpPr>
        <p:cNvPr id="1" name=""/>
        <p:cNvGrpSpPr/>
        <p:nvPr/>
      </p:nvGrpSpPr>
      <p:grpSpPr>
        <a:xfrm>
          <a:off x="0" y="0"/>
          <a:ext cx="0" cy="0"/>
          <a:chOff x="0" y="0"/>
          <a:chExt cx="0" cy="0"/>
        </a:xfrm>
      </p:grpSpPr>
      <p:grpSp>
        <p:nvGrpSpPr>
          <p:cNvPr name="Group 2" id="2"/>
          <p:cNvGrpSpPr/>
          <p:nvPr/>
        </p:nvGrpSpPr>
        <p:grpSpPr>
          <a:xfrm rot="0">
            <a:off x="9355835" y="-1239070"/>
            <a:ext cx="10596480" cy="12765139"/>
            <a:chOff x="0" y="0"/>
            <a:chExt cx="2000630" cy="2410076"/>
          </a:xfrm>
        </p:grpSpPr>
        <p:sp>
          <p:nvSpPr>
            <p:cNvPr name="Freeform 3" id="3"/>
            <p:cNvSpPr/>
            <p:nvPr/>
          </p:nvSpPr>
          <p:spPr>
            <a:xfrm flipH="false" flipV="false" rot="0">
              <a:off x="0" y="0"/>
              <a:ext cx="2000630" cy="2410076"/>
            </a:xfrm>
            <a:custGeom>
              <a:avLst/>
              <a:gdLst/>
              <a:ahLst/>
              <a:cxnLst/>
              <a:rect r="r" b="b" t="t" l="l"/>
              <a:pathLst>
                <a:path h="2410076" w="2000630">
                  <a:moveTo>
                    <a:pt x="17535" y="0"/>
                  </a:moveTo>
                  <a:lnTo>
                    <a:pt x="1983096" y="0"/>
                  </a:lnTo>
                  <a:cubicBezTo>
                    <a:pt x="1992780" y="0"/>
                    <a:pt x="2000630" y="7851"/>
                    <a:pt x="2000630" y="17535"/>
                  </a:cubicBezTo>
                  <a:lnTo>
                    <a:pt x="2000630" y="2392542"/>
                  </a:lnTo>
                  <a:cubicBezTo>
                    <a:pt x="2000630" y="2397192"/>
                    <a:pt x="1998783" y="2401652"/>
                    <a:pt x="1995495" y="2404941"/>
                  </a:cubicBezTo>
                  <a:cubicBezTo>
                    <a:pt x="1992206" y="2408229"/>
                    <a:pt x="1987746" y="2410076"/>
                    <a:pt x="1983096" y="2410076"/>
                  </a:cubicBezTo>
                  <a:lnTo>
                    <a:pt x="17535" y="2410076"/>
                  </a:lnTo>
                  <a:cubicBezTo>
                    <a:pt x="12884" y="2410076"/>
                    <a:pt x="8424" y="2408229"/>
                    <a:pt x="5136" y="2404941"/>
                  </a:cubicBezTo>
                  <a:cubicBezTo>
                    <a:pt x="1847" y="2401652"/>
                    <a:pt x="0" y="2397192"/>
                    <a:pt x="0" y="2392542"/>
                  </a:cubicBezTo>
                  <a:lnTo>
                    <a:pt x="0" y="17535"/>
                  </a:lnTo>
                  <a:cubicBezTo>
                    <a:pt x="0" y="12884"/>
                    <a:pt x="1847" y="8424"/>
                    <a:pt x="5136" y="5136"/>
                  </a:cubicBezTo>
                  <a:cubicBezTo>
                    <a:pt x="8424" y="1847"/>
                    <a:pt x="12884" y="0"/>
                    <a:pt x="17535" y="0"/>
                  </a:cubicBezTo>
                  <a:close/>
                </a:path>
              </a:pathLst>
            </a:custGeom>
            <a:solidFill>
              <a:srgbClr val="FBF6F1"/>
            </a:solidFill>
            <a:ln cap="rnd">
              <a:noFill/>
              <a:prstDash val="solid"/>
              <a:round/>
            </a:ln>
          </p:spPr>
        </p:sp>
        <p:sp>
          <p:nvSpPr>
            <p:cNvPr name="TextBox 4" id="4"/>
            <p:cNvSpPr txBox="true"/>
            <p:nvPr/>
          </p:nvSpPr>
          <p:spPr>
            <a:xfrm>
              <a:off x="0" y="-38100"/>
              <a:ext cx="2000630" cy="2448176"/>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Freeform 5" id="5"/>
          <p:cNvSpPr/>
          <p:nvPr/>
        </p:nvSpPr>
        <p:spPr>
          <a:xfrm flipH="false" flipV="false" rot="0">
            <a:off x="9570217" y="5000306"/>
            <a:ext cx="548499" cy="565463"/>
          </a:xfrm>
          <a:custGeom>
            <a:avLst/>
            <a:gdLst/>
            <a:ahLst/>
            <a:cxnLst/>
            <a:rect r="r" b="b" t="t" l="l"/>
            <a:pathLst>
              <a:path h="565463" w="548499">
                <a:moveTo>
                  <a:pt x="0" y="0"/>
                </a:moveTo>
                <a:lnTo>
                  <a:pt x="548499" y="0"/>
                </a:lnTo>
                <a:lnTo>
                  <a:pt x="548499" y="565463"/>
                </a:lnTo>
                <a:lnTo>
                  <a:pt x="0" y="565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570217" y="6131692"/>
            <a:ext cx="548499" cy="565463"/>
          </a:xfrm>
          <a:custGeom>
            <a:avLst/>
            <a:gdLst/>
            <a:ahLst/>
            <a:cxnLst/>
            <a:rect r="r" b="b" t="t" l="l"/>
            <a:pathLst>
              <a:path h="565463" w="548499">
                <a:moveTo>
                  <a:pt x="0" y="0"/>
                </a:moveTo>
                <a:lnTo>
                  <a:pt x="548499" y="0"/>
                </a:lnTo>
                <a:lnTo>
                  <a:pt x="548499" y="565463"/>
                </a:lnTo>
                <a:lnTo>
                  <a:pt x="0" y="565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39011" y="5283037"/>
            <a:ext cx="395312" cy="422794"/>
          </a:xfrm>
          <a:custGeom>
            <a:avLst/>
            <a:gdLst/>
            <a:ahLst/>
            <a:cxnLst/>
            <a:rect r="r" b="b" t="t" l="l"/>
            <a:pathLst>
              <a:path h="422794" w="395312">
                <a:moveTo>
                  <a:pt x="0" y="0"/>
                </a:moveTo>
                <a:lnTo>
                  <a:pt x="395312" y="0"/>
                </a:lnTo>
                <a:lnTo>
                  <a:pt x="395312" y="422794"/>
                </a:lnTo>
                <a:lnTo>
                  <a:pt x="0" y="422794"/>
                </a:lnTo>
                <a:lnTo>
                  <a:pt x="0" y="0"/>
                </a:lnTo>
                <a:close/>
              </a:path>
            </a:pathLst>
          </a:custGeom>
          <a:blipFill>
            <a:blip r:embed="rId4"/>
            <a:stretch>
              <a:fillRect l="0" t="0" r="0" b="0"/>
            </a:stretch>
          </a:blipFill>
        </p:spPr>
      </p:sp>
      <p:sp>
        <p:nvSpPr>
          <p:cNvPr name="TextBox 8" id="8"/>
          <p:cNvSpPr txBox="true"/>
          <p:nvPr/>
        </p:nvSpPr>
        <p:spPr>
          <a:xfrm rot="0">
            <a:off x="1028700" y="1046607"/>
            <a:ext cx="4943031" cy="794385"/>
          </a:xfrm>
          <a:prstGeom prst="rect">
            <a:avLst/>
          </a:prstGeom>
        </p:spPr>
        <p:txBody>
          <a:bodyPr anchor="t" rtlCol="false" tIns="0" lIns="0" bIns="0" rIns="0">
            <a:spAutoFit/>
          </a:bodyPr>
          <a:lstStyle/>
          <a:p>
            <a:pPr algn="l" marL="0" indent="0" lvl="1">
              <a:lnSpc>
                <a:spcPts val="6270"/>
              </a:lnSpc>
            </a:pPr>
            <a:r>
              <a:rPr lang="en-US" b="true" sz="5500" spc="-264">
                <a:solidFill>
                  <a:srgbClr val="FFFFFF"/>
                </a:solidFill>
                <a:latin typeface="Open Sauce Semi-Bold"/>
                <a:ea typeface="Open Sauce Semi-Bold"/>
                <a:cs typeface="Open Sauce Semi-Bold"/>
                <a:sym typeface="Open Sauce Semi-Bold"/>
              </a:rPr>
              <a:t>Kons</a:t>
            </a:r>
            <a:r>
              <a:rPr lang="en-US" b="true" sz="5500" spc="-264">
                <a:solidFill>
                  <a:srgbClr val="FFFFFF"/>
                </a:solidFill>
                <a:latin typeface="Open Sauce Semi-Bold"/>
                <a:ea typeface="Open Sauce Semi-Bold"/>
                <a:cs typeface="Open Sauce Semi-Bold"/>
                <a:sym typeface="Open Sauce Semi-Bold"/>
              </a:rPr>
              <a:t>ep Dasar</a:t>
            </a:r>
          </a:p>
        </p:txBody>
      </p:sp>
      <p:sp>
        <p:nvSpPr>
          <p:cNvPr name="TextBox 9" id="9"/>
          <p:cNvSpPr txBox="true"/>
          <p:nvPr/>
        </p:nvSpPr>
        <p:spPr>
          <a:xfrm rot="0">
            <a:off x="1028700" y="1936573"/>
            <a:ext cx="6016285" cy="737235"/>
          </a:xfrm>
          <a:prstGeom prst="rect">
            <a:avLst/>
          </a:prstGeom>
        </p:spPr>
        <p:txBody>
          <a:bodyPr anchor="t" rtlCol="false" tIns="0" lIns="0" bIns="0" rIns="0">
            <a:spAutoFit/>
          </a:bodyPr>
          <a:lstStyle/>
          <a:p>
            <a:pPr algn="l" marL="0" indent="0" lvl="0">
              <a:lnSpc>
                <a:spcPts val="2939"/>
              </a:lnSpc>
            </a:pPr>
            <a:r>
              <a:rPr lang="en-US" b="true" sz="2099" spc="6">
                <a:solidFill>
                  <a:srgbClr val="FFDE59"/>
                </a:solidFill>
                <a:latin typeface="Open Sauce Bold"/>
                <a:ea typeface="Open Sauce Bold"/>
                <a:cs typeface="Open Sauce Bold"/>
                <a:sym typeface="Open Sauce Bold"/>
              </a:rPr>
              <a:t>M</a:t>
            </a:r>
            <a:r>
              <a:rPr lang="en-US" b="true" sz="2099" spc="6" u="none">
                <a:solidFill>
                  <a:srgbClr val="FFDE59"/>
                </a:solidFill>
                <a:latin typeface="Open Sauce Bold"/>
                <a:ea typeface="Open Sauce Bold"/>
                <a:cs typeface="Open Sauce Bold"/>
                <a:sym typeface="Open Sauce Bold"/>
              </a:rPr>
              <a:t>enebak Angka Presisi, Bukan Kategori</a:t>
            </a:r>
          </a:p>
          <a:p>
            <a:pPr algn="l" marL="0" indent="0" lvl="0">
              <a:lnSpc>
                <a:spcPts val="2939"/>
              </a:lnSpc>
            </a:pPr>
          </a:p>
        </p:txBody>
      </p:sp>
      <p:sp>
        <p:nvSpPr>
          <p:cNvPr name="TextBox 10" id="10"/>
          <p:cNvSpPr txBox="true"/>
          <p:nvPr/>
        </p:nvSpPr>
        <p:spPr>
          <a:xfrm rot="0">
            <a:off x="2488152" y="3916883"/>
            <a:ext cx="4260568" cy="525747"/>
          </a:xfrm>
          <a:prstGeom prst="rect">
            <a:avLst/>
          </a:prstGeom>
        </p:spPr>
        <p:txBody>
          <a:bodyPr anchor="t" rtlCol="false" tIns="0" lIns="0" bIns="0" rIns="0">
            <a:spAutoFit/>
          </a:bodyPr>
          <a:lstStyle/>
          <a:p>
            <a:pPr algn="l" marL="0" indent="0" lvl="0">
              <a:lnSpc>
                <a:spcPts val="4306"/>
              </a:lnSpc>
            </a:pPr>
            <a:r>
              <a:rPr lang="en-US" b="true" sz="3076" spc="9">
                <a:solidFill>
                  <a:srgbClr val="FFFFFF"/>
                </a:solidFill>
                <a:latin typeface="Open Sauce Bold"/>
                <a:ea typeface="Open Sauce Bold"/>
                <a:cs typeface="Open Sauce Bold"/>
                <a:sym typeface="Open Sauce Bold"/>
              </a:rPr>
              <a:t>TEKNIK</a:t>
            </a:r>
            <a:r>
              <a:rPr lang="en-US" b="true" sz="3076" spc="9" u="none">
                <a:solidFill>
                  <a:srgbClr val="FFFFFF"/>
                </a:solidFill>
                <a:latin typeface="Open Sauce Bold"/>
                <a:ea typeface="Open Sauce Bold"/>
                <a:cs typeface="Open Sauce Bold"/>
                <a:sym typeface="Open Sauce Bold"/>
              </a:rPr>
              <a:t> KLASIFIKASI</a:t>
            </a:r>
          </a:p>
        </p:txBody>
      </p:sp>
      <p:sp>
        <p:nvSpPr>
          <p:cNvPr name="TextBox 11" id="11"/>
          <p:cNvSpPr txBox="true"/>
          <p:nvPr/>
        </p:nvSpPr>
        <p:spPr>
          <a:xfrm rot="0">
            <a:off x="2614809" y="4585641"/>
            <a:ext cx="4007254" cy="414665"/>
          </a:xfrm>
          <a:prstGeom prst="rect">
            <a:avLst/>
          </a:prstGeom>
        </p:spPr>
        <p:txBody>
          <a:bodyPr anchor="t" rtlCol="false" tIns="0" lIns="0" bIns="0" rIns="0">
            <a:spAutoFit/>
          </a:bodyPr>
          <a:lstStyle/>
          <a:p>
            <a:pPr algn="l" marL="0" indent="0" lvl="0">
              <a:lnSpc>
                <a:spcPts val="3443"/>
              </a:lnSpc>
            </a:pPr>
            <a:r>
              <a:rPr lang="en-US" b="true" sz="2459" spc="7">
                <a:solidFill>
                  <a:srgbClr val="FFDE59"/>
                </a:solidFill>
                <a:latin typeface="Open Sauce Bold"/>
                <a:ea typeface="Open Sauce Bold"/>
                <a:cs typeface="Open Sauce Bold"/>
                <a:sym typeface="Open Sauce Bold"/>
              </a:rPr>
              <a:t>M</a:t>
            </a:r>
            <a:r>
              <a:rPr lang="en-US" b="true" sz="2459" spc="7" u="none">
                <a:solidFill>
                  <a:srgbClr val="FFDE59"/>
                </a:solidFill>
                <a:latin typeface="Open Sauce Bold"/>
                <a:ea typeface="Open Sauce Bold"/>
                <a:cs typeface="Open Sauce Bold"/>
                <a:sym typeface="Open Sauce Bold"/>
              </a:rPr>
              <a:t>emprediksi Kategori</a:t>
            </a:r>
          </a:p>
        </p:txBody>
      </p:sp>
      <p:sp>
        <p:nvSpPr>
          <p:cNvPr name="TextBox 12" id="12"/>
          <p:cNvSpPr txBox="true"/>
          <p:nvPr/>
        </p:nvSpPr>
        <p:spPr>
          <a:xfrm rot="0">
            <a:off x="934323" y="5103486"/>
            <a:ext cx="8192437" cy="1845834"/>
          </a:xfrm>
          <a:prstGeom prst="rect">
            <a:avLst/>
          </a:prstGeom>
        </p:spPr>
        <p:txBody>
          <a:bodyPr anchor="t" rtlCol="false" tIns="0" lIns="0" bIns="0" rIns="0">
            <a:spAutoFit/>
          </a:bodyPr>
          <a:lstStyle/>
          <a:p>
            <a:pPr algn="l" marL="531036" indent="-265518" lvl="1">
              <a:lnSpc>
                <a:spcPts val="5091"/>
              </a:lnSpc>
              <a:buAutoNum type="arabicPeriod" startAt="1"/>
            </a:pPr>
            <a:r>
              <a:rPr lang="en-US" b="true" sz="2459" spc="7">
                <a:solidFill>
                  <a:srgbClr val="FFFFFF"/>
                </a:solidFill>
                <a:latin typeface="Open Sauce Bold"/>
                <a:ea typeface="Open Sauce Bold"/>
                <a:cs typeface="Open Sauce Bold"/>
                <a:sym typeface="Open Sauce Bold"/>
              </a:rPr>
              <a:t>Variab</a:t>
            </a:r>
            <a:r>
              <a:rPr lang="en-US" b="true" sz="2459" spc="7" u="none">
                <a:solidFill>
                  <a:srgbClr val="FFFFFF"/>
                </a:solidFill>
                <a:latin typeface="Open Sauce Bold"/>
                <a:ea typeface="Open Sauce Bold"/>
                <a:cs typeface="Open Sauce Bold"/>
                <a:sym typeface="Open Sauce Bold"/>
              </a:rPr>
              <a:t>el target bertipe nominal atau ordinal.</a:t>
            </a:r>
          </a:p>
          <a:p>
            <a:pPr algn="l" marL="531036" indent="-265518" lvl="1">
              <a:lnSpc>
                <a:spcPts val="5091"/>
              </a:lnSpc>
              <a:buAutoNum type="arabicPeriod" startAt="1"/>
            </a:pPr>
            <a:r>
              <a:rPr lang="en-US" b="true" sz="2459" spc="7" u="none">
                <a:solidFill>
                  <a:srgbClr val="FFFFFF"/>
                </a:solidFill>
                <a:latin typeface="Open Sauce Bold"/>
                <a:ea typeface="Open Sauce Bold"/>
                <a:cs typeface="Open Sauce Bold"/>
                <a:sym typeface="Open Sauce Bold"/>
              </a:rPr>
              <a:t>Menghasilkan label kategori diskrit</a:t>
            </a:r>
          </a:p>
          <a:p>
            <a:pPr algn="l">
              <a:lnSpc>
                <a:spcPts val="5091"/>
              </a:lnSpc>
            </a:pPr>
            <a:r>
              <a:rPr lang="en-US" b="true" sz="2459" spc="7" u="none">
                <a:solidFill>
                  <a:srgbClr val="FFFFFF"/>
                </a:solidFill>
                <a:latin typeface="Open Sauce Bold"/>
                <a:ea typeface="Open Sauce Bold"/>
                <a:cs typeface="Open Sauce Bold"/>
                <a:sym typeface="Open Sauce Bold"/>
              </a:rPr>
              <a:t>Contoh: "Lulus / Gagal" atau "Tinggi / Rendah".</a:t>
            </a:r>
          </a:p>
        </p:txBody>
      </p:sp>
      <p:sp>
        <p:nvSpPr>
          <p:cNvPr name="TextBox 13" id="13"/>
          <p:cNvSpPr txBox="true"/>
          <p:nvPr/>
        </p:nvSpPr>
        <p:spPr>
          <a:xfrm rot="0">
            <a:off x="12232678" y="3690466"/>
            <a:ext cx="4124960" cy="501610"/>
          </a:xfrm>
          <a:prstGeom prst="rect">
            <a:avLst/>
          </a:prstGeom>
        </p:spPr>
        <p:txBody>
          <a:bodyPr anchor="t" rtlCol="false" tIns="0" lIns="0" bIns="0" rIns="0">
            <a:spAutoFit/>
          </a:bodyPr>
          <a:lstStyle/>
          <a:p>
            <a:pPr algn="l" marL="0" indent="0" lvl="0">
              <a:lnSpc>
                <a:spcPts val="4169"/>
              </a:lnSpc>
            </a:pPr>
            <a:r>
              <a:rPr lang="en-US" b="true" sz="2978" spc="8">
                <a:solidFill>
                  <a:srgbClr val="33326B"/>
                </a:solidFill>
                <a:latin typeface="Open Sauce Bold"/>
                <a:ea typeface="Open Sauce Bold"/>
                <a:cs typeface="Open Sauce Bold"/>
                <a:sym typeface="Open Sauce Bold"/>
              </a:rPr>
              <a:t>TEKNIK</a:t>
            </a:r>
            <a:r>
              <a:rPr lang="en-US" b="true" sz="2978" spc="8" u="none">
                <a:solidFill>
                  <a:srgbClr val="33326B"/>
                </a:solidFill>
                <a:latin typeface="Open Sauce Bold"/>
                <a:ea typeface="Open Sauce Bold"/>
                <a:cs typeface="Open Sauce Bold"/>
                <a:sym typeface="Open Sauce Bold"/>
              </a:rPr>
              <a:t> ESTIMASI</a:t>
            </a:r>
          </a:p>
        </p:txBody>
      </p:sp>
      <p:sp>
        <p:nvSpPr>
          <p:cNvPr name="TextBox 14" id="14"/>
          <p:cNvSpPr txBox="true"/>
          <p:nvPr/>
        </p:nvSpPr>
        <p:spPr>
          <a:xfrm rot="0">
            <a:off x="11853836" y="4329019"/>
            <a:ext cx="4184503" cy="812268"/>
          </a:xfrm>
          <a:prstGeom prst="rect">
            <a:avLst/>
          </a:prstGeom>
        </p:spPr>
        <p:txBody>
          <a:bodyPr anchor="t" rtlCol="false" tIns="0" lIns="0" bIns="0" rIns="0">
            <a:spAutoFit/>
          </a:bodyPr>
          <a:lstStyle/>
          <a:p>
            <a:pPr algn="l" marL="0" indent="0" lvl="0">
              <a:lnSpc>
                <a:spcPts val="3333"/>
              </a:lnSpc>
            </a:pPr>
            <a:r>
              <a:rPr lang="en-US" b="true" sz="2381" spc="7" u="none">
                <a:solidFill>
                  <a:srgbClr val="5065D8"/>
                </a:solidFill>
                <a:latin typeface="Open Sauce Bold"/>
                <a:ea typeface="Open Sauce Bold"/>
                <a:cs typeface="Open Sauce Bold"/>
                <a:sym typeface="Open Sauce Bold"/>
              </a:rPr>
              <a:t>Memprediksi Nilai Numerik</a:t>
            </a:r>
          </a:p>
          <a:p>
            <a:pPr algn="l" marL="0" indent="0" lvl="0">
              <a:lnSpc>
                <a:spcPts val="3333"/>
              </a:lnSpc>
            </a:pPr>
          </a:p>
        </p:txBody>
      </p:sp>
      <p:sp>
        <p:nvSpPr>
          <p:cNvPr name="TextBox 15" id="15"/>
          <p:cNvSpPr txBox="true"/>
          <p:nvPr/>
        </p:nvSpPr>
        <p:spPr>
          <a:xfrm rot="0">
            <a:off x="10118716" y="4825531"/>
            <a:ext cx="7931683" cy="2412297"/>
          </a:xfrm>
          <a:prstGeom prst="rect">
            <a:avLst/>
          </a:prstGeom>
        </p:spPr>
        <p:txBody>
          <a:bodyPr anchor="t" rtlCol="false" tIns="0" lIns="0" bIns="0" rIns="0">
            <a:spAutoFit/>
          </a:bodyPr>
          <a:lstStyle/>
          <a:p>
            <a:pPr algn="l" marL="514134" indent="-257067" lvl="1">
              <a:lnSpc>
                <a:spcPts val="4929"/>
              </a:lnSpc>
              <a:buAutoNum type="arabicPeriod" startAt="1"/>
            </a:pPr>
            <a:r>
              <a:rPr lang="en-US" b="true" sz="2381" spc="7">
                <a:solidFill>
                  <a:srgbClr val="374BB8"/>
                </a:solidFill>
                <a:latin typeface="Open Sauce Bold"/>
                <a:ea typeface="Open Sauce Bold"/>
                <a:cs typeface="Open Sauce Bold"/>
                <a:sym typeface="Open Sauce Bold"/>
              </a:rPr>
              <a:t>Variab</a:t>
            </a:r>
            <a:r>
              <a:rPr lang="en-US" b="true" sz="2381" spc="7" u="none">
                <a:solidFill>
                  <a:srgbClr val="374BB8"/>
                </a:solidFill>
                <a:latin typeface="Open Sauce Bold"/>
                <a:ea typeface="Open Sauce Bold"/>
                <a:cs typeface="Open Sauce Bold"/>
                <a:sym typeface="Open Sauce Bold"/>
              </a:rPr>
              <a:t>el target murni data ko</a:t>
            </a:r>
            <a:r>
              <a:rPr lang="en-US" b="true" sz="2381" spc="7" u="none">
                <a:solidFill>
                  <a:srgbClr val="374BB8"/>
                </a:solidFill>
                <a:latin typeface="Open Sauce Bold"/>
                <a:ea typeface="Open Sauce Bold"/>
                <a:cs typeface="Open Sauce Bold"/>
                <a:sym typeface="Open Sauce Bold"/>
              </a:rPr>
              <a:t>ntinu (interva</a:t>
            </a:r>
            <a:r>
              <a:rPr lang="en-US" b="true" sz="2381" spc="7" u="none">
                <a:solidFill>
                  <a:srgbClr val="374BB8"/>
                </a:solidFill>
                <a:latin typeface="Open Sauce Bold"/>
                <a:ea typeface="Open Sauce Bold"/>
                <a:cs typeface="Open Sauce Bold"/>
                <a:sym typeface="Open Sauce Bold"/>
              </a:rPr>
              <a:t>l/rasio).</a:t>
            </a:r>
          </a:p>
          <a:p>
            <a:pPr algn="l" marL="514134" indent="-257067" lvl="1">
              <a:lnSpc>
                <a:spcPts val="4929"/>
              </a:lnSpc>
              <a:buAutoNum type="arabicPeriod" startAt="1"/>
            </a:pPr>
            <a:r>
              <a:rPr lang="en-US" b="true" sz="2381" spc="7" u="none">
                <a:solidFill>
                  <a:srgbClr val="374BB8"/>
                </a:solidFill>
                <a:latin typeface="Open Sauce Bold"/>
                <a:ea typeface="Open Sauce Bold"/>
                <a:cs typeface="Open Sauce Bold"/>
                <a:sym typeface="Open Sauce Bold"/>
              </a:rPr>
              <a:t>Menghasilkan proyeksi angka riil dan spesifik.</a:t>
            </a:r>
          </a:p>
          <a:p>
            <a:pPr algn="l">
              <a:lnSpc>
                <a:spcPts val="4929"/>
              </a:lnSpc>
            </a:pPr>
            <a:r>
              <a:rPr lang="en-US" b="true" sz="2381" spc="7" u="none">
                <a:solidFill>
                  <a:srgbClr val="374BB8"/>
                </a:solidFill>
                <a:latin typeface="Open Sauce Bold"/>
                <a:ea typeface="Open Sauce Bold"/>
                <a:cs typeface="Open Sauce Bold"/>
                <a:sym typeface="Open Sauce Bold"/>
              </a:rPr>
              <a:t>Contoh: Estimasi Harga = Rp 850.500.000.</a:t>
            </a:r>
          </a:p>
        </p:txBody>
      </p:sp>
      <p:sp>
        <p:nvSpPr>
          <p:cNvPr name="Freeform 16" id="16"/>
          <p:cNvSpPr/>
          <p:nvPr/>
        </p:nvSpPr>
        <p:spPr>
          <a:xfrm flipH="false" flipV="false" rot="0">
            <a:off x="539011" y="5915018"/>
            <a:ext cx="395312" cy="422794"/>
          </a:xfrm>
          <a:custGeom>
            <a:avLst/>
            <a:gdLst/>
            <a:ahLst/>
            <a:cxnLst/>
            <a:rect r="r" b="b" t="t" l="l"/>
            <a:pathLst>
              <a:path h="422794" w="395312">
                <a:moveTo>
                  <a:pt x="0" y="0"/>
                </a:moveTo>
                <a:lnTo>
                  <a:pt x="395312" y="0"/>
                </a:lnTo>
                <a:lnTo>
                  <a:pt x="395312" y="422794"/>
                </a:lnTo>
                <a:lnTo>
                  <a:pt x="0" y="422794"/>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16246D"/>
        </a:solidFill>
      </p:bgPr>
    </p:bg>
    <p:spTree>
      <p:nvGrpSpPr>
        <p:cNvPr id="1" name=""/>
        <p:cNvGrpSpPr/>
        <p:nvPr/>
      </p:nvGrpSpPr>
      <p:grpSpPr>
        <a:xfrm>
          <a:off x="0" y="0"/>
          <a:ext cx="0" cy="0"/>
          <a:chOff x="0" y="0"/>
          <a:chExt cx="0" cy="0"/>
        </a:xfrm>
      </p:grpSpPr>
      <p:sp>
        <p:nvSpPr>
          <p:cNvPr name="TextBox 2" id="2"/>
          <p:cNvSpPr txBox="true"/>
          <p:nvPr/>
        </p:nvSpPr>
        <p:spPr>
          <a:xfrm rot="0">
            <a:off x="1028700" y="4297143"/>
            <a:ext cx="7270078" cy="2978528"/>
          </a:xfrm>
          <a:prstGeom prst="rect">
            <a:avLst/>
          </a:prstGeom>
        </p:spPr>
        <p:txBody>
          <a:bodyPr anchor="t" rtlCol="false" tIns="0" lIns="0" bIns="0" rIns="0">
            <a:spAutoFit/>
          </a:bodyPr>
          <a:lstStyle/>
          <a:p>
            <a:pPr algn="l">
              <a:lnSpc>
                <a:spcPts val="7876"/>
              </a:lnSpc>
            </a:pPr>
            <a:r>
              <a:rPr lang="en-US" sz="6674" spc="-320" b="true">
                <a:solidFill>
                  <a:srgbClr val="FFFFFF"/>
                </a:solidFill>
                <a:latin typeface="Open Sauce Semi-Bold"/>
                <a:ea typeface="Open Sauce Semi-Bold"/>
                <a:cs typeface="Open Sauce Semi-Bold"/>
                <a:sym typeface="Open Sauce Semi-Bold"/>
              </a:rPr>
              <a:t>D</a:t>
            </a:r>
            <a:r>
              <a:rPr lang="en-US" b="true" sz="6674" spc="-320">
                <a:solidFill>
                  <a:srgbClr val="FFFFFF"/>
                </a:solidFill>
                <a:latin typeface="Open Sauce Semi-Bold"/>
                <a:ea typeface="Open Sauce Semi-Bold"/>
                <a:cs typeface="Open Sauce Semi-Bold"/>
                <a:sym typeface="Open Sauce Semi-Bold"/>
              </a:rPr>
              <a:t>ari Astronomi ke Era Komputasi</a:t>
            </a:r>
          </a:p>
          <a:p>
            <a:pPr algn="l" marL="0" indent="0" lvl="1">
              <a:lnSpc>
                <a:spcPts val="7876"/>
              </a:lnSpc>
            </a:pPr>
          </a:p>
        </p:txBody>
      </p:sp>
      <p:sp>
        <p:nvSpPr>
          <p:cNvPr name="TextBox 3" id="3"/>
          <p:cNvSpPr txBox="true"/>
          <p:nvPr/>
        </p:nvSpPr>
        <p:spPr>
          <a:xfrm rot="0">
            <a:off x="1028700" y="3713347"/>
            <a:ext cx="3583562" cy="382894"/>
          </a:xfrm>
          <a:prstGeom prst="rect">
            <a:avLst/>
          </a:prstGeom>
        </p:spPr>
        <p:txBody>
          <a:bodyPr anchor="t" rtlCol="false" tIns="0" lIns="0" bIns="0" rIns="0">
            <a:spAutoFit/>
          </a:bodyPr>
          <a:lstStyle/>
          <a:p>
            <a:pPr algn="l" marL="0" indent="0" lvl="0">
              <a:lnSpc>
                <a:spcPts val="3234"/>
              </a:lnSpc>
            </a:pPr>
            <a:r>
              <a:rPr lang="en-US" b="true" sz="2310" spc="6">
                <a:solidFill>
                  <a:srgbClr val="FFDE59"/>
                </a:solidFill>
                <a:latin typeface="Open Sauce Bold"/>
                <a:ea typeface="Open Sauce Bold"/>
                <a:cs typeface="Open Sauce Bold"/>
                <a:sym typeface="Open Sauce Bold"/>
              </a:rPr>
              <a:t>S</a:t>
            </a:r>
            <a:r>
              <a:rPr lang="en-US" b="true" sz="2310" spc="6">
                <a:solidFill>
                  <a:srgbClr val="FFDE59"/>
                </a:solidFill>
                <a:latin typeface="Open Sauce Bold"/>
                <a:ea typeface="Open Sauce Bold"/>
                <a:cs typeface="Open Sauce Bold"/>
                <a:sym typeface="Open Sauce Bold"/>
              </a:rPr>
              <a:t>ej</a:t>
            </a:r>
            <a:r>
              <a:rPr lang="en-US" b="true" sz="2310" spc="6" u="none">
                <a:solidFill>
                  <a:srgbClr val="FFDE59"/>
                </a:solidFill>
                <a:latin typeface="Open Sauce Bold"/>
                <a:ea typeface="Open Sauce Bold"/>
                <a:cs typeface="Open Sauce Bold"/>
                <a:sym typeface="Open Sauce Bold"/>
              </a:rPr>
              <a:t>arah Perkembangan</a:t>
            </a:r>
          </a:p>
        </p:txBody>
      </p:sp>
      <p:grpSp>
        <p:nvGrpSpPr>
          <p:cNvPr name="Group 4" id="4"/>
          <p:cNvGrpSpPr/>
          <p:nvPr/>
        </p:nvGrpSpPr>
        <p:grpSpPr>
          <a:xfrm rot="0">
            <a:off x="8782222" y="695523"/>
            <a:ext cx="8656907" cy="2678224"/>
            <a:chOff x="0" y="0"/>
            <a:chExt cx="11542542" cy="3570966"/>
          </a:xfrm>
        </p:grpSpPr>
        <p:grpSp>
          <p:nvGrpSpPr>
            <p:cNvPr name="Group 5" id="5"/>
            <p:cNvGrpSpPr/>
            <p:nvPr/>
          </p:nvGrpSpPr>
          <p:grpSpPr>
            <a:xfrm rot="0">
              <a:off x="0" y="0"/>
              <a:ext cx="11542542" cy="3570966"/>
              <a:chOff x="0" y="0"/>
              <a:chExt cx="8376975" cy="2591621"/>
            </a:xfrm>
          </p:grpSpPr>
          <p:sp>
            <p:nvSpPr>
              <p:cNvPr name="Freeform 6" id="6"/>
              <p:cNvSpPr/>
              <p:nvPr/>
            </p:nvSpPr>
            <p:spPr>
              <a:xfrm flipH="false" flipV="false" rot="0">
                <a:off x="0" y="0"/>
                <a:ext cx="8376976" cy="2591621"/>
              </a:xfrm>
              <a:custGeom>
                <a:avLst/>
                <a:gdLst/>
                <a:ahLst/>
                <a:cxnLst/>
                <a:rect r="r" b="b" t="t" l="l"/>
                <a:pathLst>
                  <a:path h="2591621" w="8376976">
                    <a:moveTo>
                      <a:pt x="33984" y="0"/>
                    </a:moveTo>
                    <a:lnTo>
                      <a:pt x="8342992" y="0"/>
                    </a:lnTo>
                    <a:cubicBezTo>
                      <a:pt x="8352005" y="0"/>
                      <a:pt x="8360649" y="3580"/>
                      <a:pt x="8367022" y="9954"/>
                    </a:cubicBezTo>
                    <a:cubicBezTo>
                      <a:pt x="8373395" y="16327"/>
                      <a:pt x="8376976" y="24971"/>
                      <a:pt x="8376976" y="33984"/>
                    </a:cubicBezTo>
                    <a:lnTo>
                      <a:pt x="8376976" y="2557637"/>
                    </a:lnTo>
                    <a:cubicBezTo>
                      <a:pt x="8376976" y="2566650"/>
                      <a:pt x="8373395" y="2575294"/>
                      <a:pt x="8367022" y="2581667"/>
                    </a:cubicBezTo>
                    <a:cubicBezTo>
                      <a:pt x="8360649" y="2588040"/>
                      <a:pt x="8352005" y="2591621"/>
                      <a:pt x="8342992" y="2591621"/>
                    </a:cubicBezTo>
                    <a:lnTo>
                      <a:pt x="33984" y="2591621"/>
                    </a:lnTo>
                    <a:cubicBezTo>
                      <a:pt x="24971" y="2591621"/>
                      <a:pt x="16327" y="2588040"/>
                      <a:pt x="9954" y="2581667"/>
                    </a:cubicBezTo>
                    <a:cubicBezTo>
                      <a:pt x="3580" y="2575294"/>
                      <a:pt x="0" y="2566650"/>
                      <a:pt x="0" y="2557637"/>
                    </a:cubicBezTo>
                    <a:lnTo>
                      <a:pt x="0" y="33984"/>
                    </a:lnTo>
                    <a:cubicBezTo>
                      <a:pt x="0" y="24971"/>
                      <a:pt x="3580" y="16327"/>
                      <a:pt x="9954" y="9954"/>
                    </a:cubicBezTo>
                    <a:cubicBezTo>
                      <a:pt x="16327" y="3580"/>
                      <a:pt x="24971" y="0"/>
                      <a:pt x="33984" y="0"/>
                    </a:cubicBezTo>
                    <a:close/>
                  </a:path>
                </a:pathLst>
              </a:custGeom>
              <a:solidFill>
                <a:srgbClr val="7A8FFA"/>
              </a:solidFill>
            </p:spPr>
          </p:sp>
          <p:sp>
            <p:nvSpPr>
              <p:cNvPr name="TextBox 7" id="7"/>
              <p:cNvSpPr txBox="true"/>
              <p:nvPr/>
            </p:nvSpPr>
            <p:spPr>
              <a:xfrm>
                <a:off x="0" y="-28575"/>
                <a:ext cx="8376975" cy="2620196"/>
              </a:xfrm>
              <a:prstGeom prst="rect">
                <a:avLst/>
              </a:prstGeom>
            </p:spPr>
            <p:txBody>
              <a:bodyPr anchor="ctr" rtlCol="false" tIns="50800" lIns="50800" bIns="50800" rIns="50800"/>
              <a:lstStyle/>
              <a:p>
                <a:pPr algn="ctr">
                  <a:lnSpc>
                    <a:spcPts val="1960"/>
                  </a:lnSpc>
                  <a:spcBef>
                    <a:spcPct val="0"/>
                  </a:spcBef>
                </a:pPr>
              </a:p>
            </p:txBody>
          </p:sp>
        </p:grpSp>
        <p:sp>
          <p:nvSpPr>
            <p:cNvPr name="TextBox 8" id="8"/>
            <p:cNvSpPr txBox="true"/>
            <p:nvPr/>
          </p:nvSpPr>
          <p:spPr>
            <a:xfrm rot="0">
              <a:off x="2155961" y="706250"/>
              <a:ext cx="7230619" cy="1136607"/>
            </a:xfrm>
            <a:prstGeom prst="rect">
              <a:avLst/>
            </a:prstGeom>
          </p:spPr>
          <p:txBody>
            <a:bodyPr anchor="t" rtlCol="false" tIns="0" lIns="0" bIns="0" rIns="0">
              <a:spAutoFit/>
            </a:bodyPr>
            <a:lstStyle/>
            <a:p>
              <a:pPr algn="ctr" marL="0" indent="0" lvl="0">
                <a:lnSpc>
                  <a:spcPts val="5420"/>
                </a:lnSpc>
                <a:spcBef>
                  <a:spcPct val="0"/>
                </a:spcBef>
              </a:pPr>
              <a:r>
                <a:rPr lang="en-US" b="true" sz="5891" spc="-241">
                  <a:solidFill>
                    <a:srgbClr val="FFFFFF"/>
                  </a:solidFill>
                  <a:latin typeface="Codec Pro Bold"/>
                  <a:ea typeface="Codec Pro Bold"/>
                  <a:cs typeface="Codec Pro Bold"/>
                  <a:sym typeface="Codec Pro Bold"/>
                </a:rPr>
                <a:t>01</a:t>
              </a:r>
            </a:p>
          </p:txBody>
        </p:sp>
        <p:sp>
          <p:nvSpPr>
            <p:cNvPr name="TextBox 9" id="9"/>
            <p:cNvSpPr txBox="true"/>
            <p:nvPr/>
          </p:nvSpPr>
          <p:spPr>
            <a:xfrm rot="0">
              <a:off x="1195416" y="1795233"/>
              <a:ext cx="9151710" cy="390033"/>
            </a:xfrm>
            <a:prstGeom prst="rect">
              <a:avLst/>
            </a:prstGeom>
          </p:spPr>
          <p:txBody>
            <a:bodyPr anchor="t" rtlCol="false" tIns="0" lIns="0" bIns="0" rIns="0">
              <a:spAutoFit/>
            </a:bodyPr>
            <a:lstStyle/>
            <a:p>
              <a:pPr algn="ctr" marL="0" indent="0" lvl="0">
                <a:lnSpc>
                  <a:spcPts val="2191"/>
                </a:lnSpc>
              </a:pPr>
              <a:r>
                <a:rPr lang="en-US" b="true" sz="1698">
                  <a:solidFill>
                    <a:srgbClr val="FFDE59"/>
                  </a:solidFill>
                  <a:latin typeface="Codec Pro Bold"/>
                  <a:ea typeface="Codec Pro Bold"/>
                  <a:cs typeface="Codec Pro Bold"/>
                  <a:sym typeface="Codec Pro Bold"/>
                </a:rPr>
                <a:t>Aw</a:t>
              </a:r>
              <a:r>
                <a:rPr lang="en-US" b="true" sz="1698" u="none">
                  <a:solidFill>
                    <a:srgbClr val="FFDE59"/>
                  </a:solidFill>
                  <a:latin typeface="Codec Pro Bold"/>
                  <a:ea typeface="Codec Pro Bold"/>
                  <a:cs typeface="Codec Pro Bold"/>
                  <a:sym typeface="Codec Pro Bold"/>
                </a:rPr>
                <a:t>al Abad Ke-19 (Carl F. Gauss)</a:t>
              </a:r>
            </a:p>
          </p:txBody>
        </p:sp>
        <p:sp>
          <p:nvSpPr>
            <p:cNvPr name="TextBox 10" id="10"/>
            <p:cNvSpPr txBox="true"/>
            <p:nvPr/>
          </p:nvSpPr>
          <p:spPr>
            <a:xfrm rot="0">
              <a:off x="1558926" y="2242029"/>
              <a:ext cx="9151710" cy="758333"/>
            </a:xfrm>
            <a:prstGeom prst="rect">
              <a:avLst/>
            </a:prstGeom>
          </p:spPr>
          <p:txBody>
            <a:bodyPr anchor="t" rtlCol="false" tIns="0" lIns="0" bIns="0" rIns="0">
              <a:spAutoFit/>
            </a:bodyPr>
            <a:lstStyle/>
            <a:p>
              <a:pPr algn="ctr" marL="0" indent="0" lvl="0">
                <a:lnSpc>
                  <a:spcPts val="2191"/>
                </a:lnSpc>
              </a:pPr>
              <a:r>
                <a:rPr lang="en-US" b="true" sz="1698">
                  <a:solidFill>
                    <a:srgbClr val="FFFFFF"/>
                  </a:solidFill>
                  <a:latin typeface="Codec Pro Bold"/>
                  <a:ea typeface="Codec Pro Bold"/>
                  <a:cs typeface="Codec Pro Bold"/>
                  <a:sym typeface="Codec Pro Bold"/>
                </a:rPr>
                <a:t>Penemuan </a:t>
              </a:r>
              <a:r>
                <a:rPr lang="en-US" b="true" sz="1698" u="none">
                  <a:solidFill>
                    <a:srgbClr val="FFFFFF"/>
                  </a:solidFill>
                  <a:latin typeface="Codec Pro Bold"/>
                  <a:ea typeface="Codec Pro Bold"/>
                  <a:cs typeface="Codec Pro Bold"/>
                  <a:sym typeface="Codec Pro Bold"/>
                </a:rPr>
                <a:t>algoritma Least Squares untuk mengestimasi orbit presisi asteroid Ceres secara manual.</a:t>
              </a:r>
            </a:p>
          </p:txBody>
        </p:sp>
      </p:grpSp>
      <p:grpSp>
        <p:nvGrpSpPr>
          <p:cNvPr name="Group 11" id="11"/>
          <p:cNvGrpSpPr/>
          <p:nvPr/>
        </p:nvGrpSpPr>
        <p:grpSpPr>
          <a:xfrm rot="0">
            <a:off x="8886695" y="3751447"/>
            <a:ext cx="8447960" cy="2954449"/>
            <a:chOff x="0" y="0"/>
            <a:chExt cx="11263947" cy="3939266"/>
          </a:xfrm>
        </p:grpSpPr>
        <p:grpSp>
          <p:nvGrpSpPr>
            <p:cNvPr name="Group 12" id="12"/>
            <p:cNvGrpSpPr/>
            <p:nvPr/>
          </p:nvGrpSpPr>
          <p:grpSpPr>
            <a:xfrm rot="0">
              <a:off x="0" y="0"/>
              <a:ext cx="11263947" cy="3939266"/>
              <a:chOff x="0" y="0"/>
              <a:chExt cx="8174785" cy="2858914"/>
            </a:xfrm>
          </p:grpSpPr>
          <p:sp>
            <p:nvSpPr>
              <p:cNvPr name="Freeform 13" id="13"/>
              <p:cNvSpPr/>
              <p:nvPr/>
            </p:nvSpPr>
            <p:spPr>
              <a:xfrm flipH="false" flipV="false" rot="0">
                <a:off x="0" y="0"/>
                <a:ext cx="8174786" cy="2858914"/>
              </a:xfrm>
              <a:custGeom>
                <a:avLst/>
                <a:gdLst/>
                <a:ahLst/>
                <a:cxnLst/>
                <a:rect r="r" b="b" t="t" l="l"/>
                <a:pathLst>
                  <a:path h="2858914" w="8174786">
                    <a:moveTo>
                      <a:pt x="34824" y="0"/>
                    </a:moveTo>
                    <a:lnTo>
                      <a:pt x="8139961" y="0"/>
                    </a:lnTo>
                    <a:cubicBezTo>
                      <a:pt x="8149197" y="0"/>
                      <a:pt x="8158055" y="3669"/>
                      <a:pt x="8164586" y="10200"/>
                    </a:cubicBezTo>
                    <a:cubicBezTo>
                      <a:pt x="8171117" y="16731"/>
                      <a:pt x="8174786" y="25588"/>
                      <a:pt x="8174786" y="34824"/>
                    </a:cubicBezTo>
                    <a:lnTo>
                      <a:pt x="8174786" y="2824089"/>
                    </a:lnTo>
                    <a:cubicBezTo>
                      <a:pt x="8174786" y="2833326"/>
                      <a:pt x="8171117" y="2842183"/>
                      <a:pt x="8164586" y="2848714"/>
                    </a:cubicBezTo>
                    <a:cubicBezTo>
                      <a:pt x="8158055" y="2855245"/>
                      <a:pt x="8149197" y="2858914"/>
                      <a:pt x="8139961" y="2858914"/>
                    </a:cubicBezTo>
                    <a:lnTo>
                      <a:pt x="34824" y="2858914"/>
                    </a:lnTo>
                    <a:cubicBezTo>
                      <a:pt x="25588" y="2858914"/>
                      <a:pt x="16731" y="2855245"/>
                      <a:pt x="10200" y="2848714"/>
                    </a:cubicBezTo>
                    <a:cubicBezTo>
                      <a:pt x="3669" y="2842183"/>
                      <a:pt x="0" y="2833326"/>
                      <a:pt x="0" y="2824089"/>
                    </a:cubicBezTo>
                    <a:lnTo>
                      <a:pt x="0" y="34824"/>
                    </a:lnTo>
                    <a:cubicBezTo>
                      <a:pt x="0" y="25588"/>
                      <a:pt x="3669" y="16731"/>
                      <a:pt x="10200" y="10200"/>
                    </a:cubicBezTo>
                    <a:cubicBezTo>
                      <a:pt x="16731" y="3669"/>
                      <a:pt x="25588" y="0"/>
                      <a:pt x="34824" y="0"/>
                    </a:cubicBezTo>
                    <a:close/>
                  </a:path>
                </a:pathLst>
              </a:custGeom>
              <a:solidFill>
                <a:srgbClr val="5065D8"/>
              </a:solidFill>
            </p:spPr>
          </p:sp>
          <p:sp>
            <p:nvSpPr>
              <p:cNvPr name="TextBox 14" id="14"/>
              <p:cNvSpPr txBox="true"/>
              <p:nvPr/>
            </p:nvSpPr>
            <p:spPr>
              <a:xfrm>
                <a:off x="0" y="-28575"/>
                <a:ext cx="8174785" cy="2887489"/>
              </a:xfrm>
              <a:prstGeom prst="rect">
                <a:avLst/>
              </a:prstGeom>
            </p:spPr>
            <p:txBody>
              <a:bodyPr anchor="ctr" rtlCol="false" tIns="50800" lIns="50800" bIns="50800" rIns="50800"/>
              <a:lstStyle/>
              <a:p>
                <a:pPr algn="ctr">
                  <a:lnSpc>
                    <a:spcPts val="1960"/>
                  </a:lnSpc>
                  <a:spcBef>
                    <a:spcPct val="0"/>
                  </a:spcBef>
                </a:pPr>
              </a:p>
            </p:txBody>
          </p:sp>
        </p:grpSp>
        <p:sp>
          <p:nvSpPr>
            <p:cNvPr name="TextBox 15" id="15"/>
            <p:cNvSpPr txBox="true"/>
            <p:nvPr/>
          </p:nvSpPr>
          <p:spPr>
            <a:xfrm rot="0">
              <a:off x="2103924" y="706250"/>
              <a:ext cx="7056098" cy="1136607"/>
            </a:xfrm>
            <a:prstGeom prst="rect">
              <a:avLst/>
            </a:prstGeom>
          </p:spPr>
          <p:txBody>
            <a:bodyPr anchor="t" rtlCol="false" tIns="0" lIns="0" bIns="0" rIns="0">
              <a:spAutoFit/>
            </a:bodyPr>
            <a:lstStyle/>
            <a:p>
              <a:pPr algn="ctr" marL="0" indent="0" lvl="0">
                <a:lnSpc>
                  <a:spcPts val="5420"/>
                </a:lnSpc>
                <a:spcBef>
                  <a:spcPct val="0"/>
                </a:spcBef>
              </a:pPr>
              <a:r>
                <a:rPr lang="en-US" b="true" sz="5891" spc="-241">
                  <a:solidFill>
                    <a:srgbClr val="FFFFFF"/>
                  </a:solidFill>
                  <a:latin typeface="Codec Pro Bold"/>
                  <a:ea typeface="Codec Pro Bold"/>
                  <a:cs typeface="Codec Pro Bold"/>
                  <a:sym typeface="Codec Pro Bold"/>
                </a:rPr>
                <a:t>02</a:t>
              </a:r>
            </a:p>
          </p:txBody>
        </p:sp>
        <p:sp>
          <p:nvSpPr>
            <p:cNvPr name="TextBox 16" id="16"/>
            <p:cNvSpPr txBox="true"/>
            <p:nvPr/>
          </p:nvSpPr>
          <p:spPr>
            <a:xfrm rot="0">
              <a:off x="1166563" y="1795233"/>
              <a:ext cx="8930821" cy="390033"/>
            </a:xfrm>
            <a:prstGeom prst="rect">
              <a:avLst/>
            </a:prstGeom>
          </p:spPr>
          <p:txBody>
            <a:bodyPr anchor="t" rtlCol="false" tIns="0" lIns="0" bIns="0" rIns="0">
              <a:spAutoFit/>
            </a:bodyPr>
            <a:lstStyle/>
            <a:p>
              <a:pPr algn="ctr" marL="0" indent="0" lvl="0">
                <a:lnSpc>
                  <a:spcPts val="2191"/>
                </a:lnSpc>
              </a:pPr>
              <a:r>
                <a:rPr lang="en-US" b="true" sz="1698">
                  <a:solidFill>
                    <a:srgbClr val="FFDE59"/>
                  </a:solidFill>
                  <a:latin typeface="Codec Pro Bold"/>
                  <a:ea typeface="Codec Pro Bold"/>
                  <a:cs typeface="Codec Pro Bold"/>
                  <a:sym typeface="Codec Pro Bold"/>
                </a:rPr>
                <a:t>Aba</a:t>
              </a:r>
              <a:r>
                <a:rPr lang="en-US" b="true" sz="1698" u="none">
                  <a:solidFill>
                    <a:srgbClr val="FFDE59"/>
                  </a:solidFill>
                  <a:latin typeface="Codec Pro Bold"/>
                  <a:ea typeface="Codec Pro Bold"/>
                  <a:cs typeface="Codec Pro Bold"/>
                  <a:sym typeface="Codec Pro Bold"/>
                </a:rPr>
                <a:t>d Ke-20 (Era Komputer)</a:t>
              </a:r>
            </a:p>
          </p:txBody>
        </p:sp>
        <p:sp>
          <p:nvSpPr>
            <p:cNvPr name="TextBox 17" id="17"/>
            <p:cNvSpPr txBox="true"/>
            <p:nvPr/>
          </p:nvSpPr>
          <p:spPr>
            <a:xfrm rot="0">
              <a:off x="1166563" y="2518821"/>
              <a:ext cx="8930821" cy="758333"/>
            </a:xfrm>
            <a:prstGeom prst="rect">
              <a:avLst/>
            </a:prstGeom>
          </p:spPr>
          <p:txBody>
            <a:bodyPr anchor="t" rtlCol="false" tIns="0" lIns="0" bIns="0" rIns="0">
              <a:spAutoFit/>
            </a:bodyPr>
            <a:lstStyle/>
            <a:p>
              <a:pPr algn="ctr" marL="0" indent="0" lvl="0">
                <a:lnSpc>
                  <a:spcPts val="2191"/>
                </a:lnSpc>
              </a:pPr>
              <a:r>
                <a:rPr lang="en-US" b="true" sz="1698">
                  <a:solidFill>
                    <a:srgbClr val="FFFFFF"/>
                  </a:solidFill>
                  <a:latin typeface="Codec Pro Bold"/>
                  <a:ea typeface="Codec Pro Bold"/>
                  <a:cs typeface="Codec Pro Bold"/>
                  <a:sym typeface="Codec Pro Bold"/>
                </a:rPr>
                <a:t>Metode statistik klasik </a:t>
              </a:r>
              <a:r>
                <a:rPr lang="en-US" b="true" sz="1698" u="none">
                  <a:solidFill>
                    <a:srgbClr val="FFFFFF"/>
                  </a:solidFill>
                  <a:latin typeface="Codec Pro Bold"/>
                  <a:ea typeface="Codec Pro Bold"/>
                  <a:cs typeface="Codec Pro Bold"/>
                  <a:sym typeface="Codec Pro Bold"/>
                </a:rPr>
                <a:t>diadopsi secara luas ke dalam arsitektur dasar ilmu komputer modern.</a:t>
              </a:r>
            </a:p>
          </p:txBody>
        </p:sp>
      </p:grpSp>
      <p:grpSp>
        <p:nvGrpSpPr>
          <p:cNvPr name="Group 18" id="18"/>
          <p:cNvGrpSpPr/>
          <p:nvPr/>
        </p:nvGrpSpPr>
        <p:grpSpPr>
          <a:xfrm rot="0">
            <a:off x="8845140" y="7080035"/>
            <a:ext cx="8531071" cy="2678224"/>
            <a:chOff x="0" y="0"/>
            <a:chExt cx="11374761" cy="3570966"/>
          </a:xfrm>
        </p:grpSpPr>
        <p:grpSp>
          <p:nvGrpSpPr>
            <p:cNvPr name="Group 19" id="19"/>
            <p:cNvGrpSpPr/>
            <p:nvPr/>
          </p:nvGrpSpPr>
          <p:grpSpPr>
            <a:xfrm rot="0">
              <a:off x="0" y="0"/>
              <a:ext cx="11374761" cy="3570966"/>
              <a:chOff x="0" y="0"/>
              <a:chExt cx="8255208" cy="2591621"/>
            </a:xfrm>
          </p:grpSpPr>
          <p:sp>
            <p:nvSpPr>
              <p:cNvPr name="Freeform 20" id="20"/>
              <p:cNvSpPr/>
              <p:nvPr/>
            </p:nvSpPr>
            <p:spPr>
              <a:xfrm flipH="false" flipV="false" rot="0">
                <a:off x="0" y="0"/>
                <a:ext cx="8255209" cy="2591621"/>
              </a:xfrm>
              <a:custGeom>
                <a:avLst/>
                <a:gdLst/>
                <a:ahLst/>
                <a:cxnLst/>
                <a:rect r="r" b="b" t="t" l="l"/>
                <a:pathLst>
                  <a:path h="2591621" w="8255209">
                    <a:moveTo>
                      <a:pt x="34485" y="0"/>
                    </a:moveTo>
                    <a:lnTo>
                      <a:pt x="8220724" y="0"/>
                    </a:lnTo>
                    <a:cubicBezTo>
                      <a:pt x="8239769" y="0"/>
                      <a:pt x="8255209" y="15439"/>
                      <a:pt x="8255209" y="34485"/>
                    </a:cubicBezTo>
                    <a:lnTo>
                      <a:pt x="8255209" y="2557136"/>
                    </a:lnTo>
                    <a:cubicBezTo>
                      <a:pt x="8255209" y="2576182"/>
                      <a:pt x="8239769" y="2591621"/>
                      <a:pt x="8220724" y="2591621"/>
                    </a:cubicBezTo>
                    <a:lnTo>
                      <a:pt x="34485" y="2591621"/>
                    </a:lnTo>
                    <a:cubicBezTo>
                      <a:pt x="15439" y="2591621"/>
                      <a:pt x="0" y="2576182"/>
                      <a:pt x="0" y="2557136"/>
                    </a:cubicBezTo>
                    <a:lnTo>
                      <a:pt x="0" y="34485"/>
                    </a:lnTo>
                    <a:cubicBezTo>
                      <a:pt x="0" y="15439"/>
                      <a:pt x="15439" y="0"/>
                      <a:pt x="34485" y="0"/>
                    </a:cubicBezTo>
                    <a:close/>
                  </a:path>
                </a:pathLst>
              </a:custGeom>
              <a:solidFill>
                <a:srgbClr val="374BB8"/>
              </a:solidFill>
            </p:spPr>
          </p:sp>
          <p:sp>
            <p:nvSpPr>
              <p:cNvPr name="TextBox 21" id="21"/>
              <p:cNvSpPr txBox="true"/>
              <p:nvPr/>
            </p:nvSpPr>
            <p:spPr>
              <a:xfrm>
                <a:off x="0" y="-28575"/>
                <a:ext cx="8255208" cy="2620196"/>
              </a:xfrm>
              <a:prstGeom prst="rect">
                <a:avLst/>
              </a:prstGeom>
            </p:spPr>
            <p:txBody>
              <a:bodyPr anchor="ctr" rtlCol="false" tIns="50800" lIns="50800" bIns="50800" rIns="50800"/>
              <a:lstStyle/>
              <a:p>
                <a:pPr algn="ctr">
                  <a:lnSpc>
                    <a:spcPts val="1960"/>
                  </a:lnSpc>
                  <a:spcBef>
                    <a:spcPct val="0"/>
                  </a:spcBef>
                </a:pPr>
              </a:p>
            </p:txBody>
          </p:sp>
        </p:grpSp>
        <p:sp>
          <p:nvSpPr>
            <p:cNvPr name="TextBox 22" id="22"/>
            <p:cNvSpPr txBox="true"/>
            <p:nvPr/>
          </p:nvSpPr>
          <p:spPr>
            <a:xfrm rot="0">
              <a:off x="2103916" y="188984"/>
              <a:ext cx="7125516" cy="1136607"/>
            </a:xfrm>
            <a:prstGeom prst="rect">
              <a:avLst/>
            </a:prstGeom>
          </p:spPr>
          <p:txBody>
            <a:bodyPr anchor="t" rtlCol="false" tIns="0" lIns="0" bIns="0" rIns="0">
              <a:spAutoFit/>
            </a:bodyPr>
            <a:lstStyle/>
            <a:p>
              <a:pPr algn="ctr" marL="0" indent="0" lvl="0">
                <a:lnSpc>
                  <a:spcPts val="5420"/>
                </a:lnSpc>
                <a:spcBef>
                  <a:spcPct val="0"/>
                </a:spcBef>
              </a:pPr>
              <a:r>
                <a:rPr lang="en-US" b="true" sz="5891" spc="-241">
                  <a:solidFill>
                    <a:srgbClr val="FFFFFF"/>
                  </a:solidFill>
                  <a:latin typeface="Codec Pro Bold"/>
                  <a:ea typeface="Codec Pro Bold"/>
                  <a:cs typeface="Codec Pro Bold"/>
                  <a:sym typeface="Codec Pro Bold"/>
                </a:rPr>
                <a:t>03</a:t>
              </a:r>
            </a:p>
          </p:txBody>
        </p:sp>
        <p:sp>
          <p:nvSpPr>
            <p:cNvPr name="TextBox 23" id="23"/>
            <p:cNvSpPr txBox="true"/>
            <p:nvPr/>
          </p:nvSpPr>
          <p:spPr>
            <a:xfrm rot="0">
              <a:off x="1178040" y="1658966"/>
              <a:ext cx="9018682" cy="390033"/>
            </a:xfrm>
            <a:prstGeom prst="rect">
              <a:avLst/>
            </a:prstGeom>
          </p:spPr>
          <p:txBody>
            <a:bodyPr anchor="t" rtlCol="false" tIns="0" lIns="0" bIns="0" rIns="0">
              <a:spAutoFit/>
            </a:bodyPr>
            <a:lstStyle/>
            <a:p>
              <a:pPr algn="ctr" marL="0" indent="0" lvl="0">
                <a:lnSpc>
                  <a:spcPts val="2191"/>
                </a:lnSpc>
              </a:pPr>
              <a:r>
                <a:rPr lang="en-US" b="true" sz="1698">
                  <a:solidFill>
                    <a:srgbClr val="FFDE59"/>
                  </a:solidFill>
                  <a:latin typeface="Codec Pro Bold"/>
                  <a:ea typeface="Codec Pro Bold"/>
                  <a:cs typeface="Codec Pro Bold"/>
                  <a:sym typeface="Codec Pro Bold"/>
                </a:rPr>
                <a:t>E</a:t>
              </a:r>
              <a:r>
                <a:rPr lang="en-US" b="true" sz="1698" u="none">
                  <a:solidFill>
                    <a:srgbClr val="FFDE59"/>
                  </a:solidFill>
                  <a:latin typeface="Codec Pro Bold"/>
                  <a:ea typeface="Codec Pro Bold"/>
                  <a:cs typeface="Codec Pro Bold"/>
                  <a:sym typeface="Codec Pro Bold"/>
                </a:rPr>
                <a:t>ra Machine Learning (Masa Kini)</a:t>
              </a:r>
            </a:p>
          </p:txBody>
        </p:sp>
        <p:sp>
          <p:nvSpPr>
            <p:cNvPr name="TextBox 24" id="24"/>
            <p:cNvSpPr txBox="true"/>
            <p:nvPr/>
          </p:nvSpPr>
          <p:spPr>
            <a:xfrm rot="0">
              <a:off x="1178040" y="2102974"/>
              <a:ext cx="9018682" cy="1126633"/>
            </a:xfrm>
            <a:prstGeom prst="rect">
              <a:avLst/>
            </a:prstGeom>
          </p:spPr>
          <p:txBody>
            <a:bodyPr anchor="t" rtlCol="false" tIns="0" lIns="0" bIns="0" rIns="0">
              <a:spAutoFit/>
            </a:bodyPr>
            <a:lstStyle/>
            <a:p>
              <a:pPr algn="ctr" marL="0" indent="0" lvl="0">
                <a:lnSpc>
                  <a:spcPts val="2191"/>
                </a:lnSpc>
              </a:pPr>
              <a:r>
                <a:rPr lang="en-US" b="true" sz="1698">
                  <a:solidFill>
                    <a:srgbClr val="FFFFFF"/>
                  </a:solidFill>
                  <a:latin typeface="Codec Pro Bold"/>
                  <a:ea typeface="Codec Pro Bold"/>
                  <a:cs typeface="Codec Pro Bold"/>
                  <a:sym typeface="Codec Pro Bold"/>
                </a:rPr>
                <a:t>E</a:t>
              </a:r>
              <a:r>
                <a:rPr lang="en-US" b="true" sz="1698" u="none">
                  <a:solidFill>
                    <a:srgbClr val="FFFFFF"/>
                  </a:solidFill>
                  <a:latin typeface="Codec Pro Bold"/>
                  <a:ea typeface="Codec Pro Bold"/>
                  <a:cs typeface="Codec Pro Bold"/>
                  <a:sym typeface="Codec Pro Bold"/>
                </a:rPr>
                <a:t>ra Machine Learning (Masa Kini)Otomasi algoritma memproses jutaan baris data hitungan detik tanpa campur tangan komputasi manual.</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374BB8"/>
        </a:solidFill>
      </p:bgPr>
    </p:bg>
    <p:spTree>
      <p:nvGrpSpPr>
        <p:cNvPr id="1" name=""/>
        <p:cNvGrpSpPr/>
        <p:nvPr/>
      </p:nvGrpSpPr>
      <p:grpSpPr>
        <a:xfrm>
          <a:off x="0" y="0"/>
          <a:ext cx="0" cy="0"/>
          <a:chOff x="0" y="0"/>
          <a:chExt cx="0" cy="0"/>
        </a:xfrm>
      </p:grpSpPr>
      <p:sp>
        <p:nvSpPr>
          <p:cNvPr name="TextBox 2" id="2"/>
          <p:cNvSpPr txBox="true"/>
          <p:nvPr/>
        </p:nvSpPr>
        <p:spPr>
          <a:xfrm rot="0">
            <a:off x="6588482" y="1347107"/>
            <a:ext cx="5703453" cy="442347"/>
          </a:xfrm>
          <a:prstGeom prst="rect">
            <a:avLst/>
          </a:prstGeom>
        </p:spPr>
        <p:txBody>
          <a:bodyPr anchor="t" rtlCol="false" tIns="0" lIns="0" bIns="0" rIns="0">
            <a:spAutoFit/>
          </a:bodyPr>
          <a:lstStyle/>
          <a:p>
            <a:pPr algn="ctr" marL="0" indent="0" lvl="1">
              <a:lnSpc>
                <a:spcPts val="3467"/>
              </a:lnSpc>
            </a:pPr>
            <a:r>
              <a:rPr lang="en-US" b="true" sz="3042" spc="-146">
                <a:solidFill>
                  <a:srgbClr val="FFDE59"/>
                </a:solidFill>
                <a:latin typeface="Open Sauce Semi-Bold"/>
                <a:ea typeface="Open Sauce Semi-Bold"/>
                <a:cs typeface="Open Sauce Semi-Bold"/>
                <a:sym typeface="Open Sauce Semi-Bold"/>
              </a:rPr>
              <a:t>Rumus</a:t>
            </a:r>
          </a:p>
        </p:txBody>
      </p:sp>
      <p:sp>
        <p:nvSpPr>
          <p:cNvPr name="TextBox 3" id="3"/>
          <p:cNvSpPr txBox="true"/>
          <p:nvPr/>
        </p:nvSpPr>
        <p:spPr>
          <a:xfrm rot="0">
            <a:off x="6077869" y="1694171"/>
            <a:ext cx="7011976" cy="1721804"/>
          </a:xfrm>
          <a:prstGeom prst="rect">
            <a:avLst/>
          </a:prstGeom>
        </p:spPr>
        <p:txBody>
          <a:bodyPr anchor="t" rtlCol="false" tIns="0" lIns="0" bIns="0" rIns="0">
            <a:spAutoFit/>
          </a:bodyPr>
          <a:lstStyle/>
          <a:p>
            <a:pPr algn="ctr" marL="0" indent="0" lvl="0">
              <a:lnSpc>
                <a:spcPts val="6947"/>
              </a:lnSpc>
            </a:pPr>
            <a:r>
              <a:rPr lang="en-US" b="true" sz="4962" spc="14">
                <a:solidFill>
                  <a:srgbClr val="FFFFFF"/>
                </a:solidFill>
                <a:latin typeface="Open Sauce Bold"/>
                <a:ea typeface="Open Sauce Bold"/>
                <a:cs typeface="Open Sauce Bold"/>
                <a:sym typeface="Open Sauce Bold"/>
              </a:rPr>
              <a:t>F</a:t>
            </a:r>
            <a:r>
              <a:rPr lang="en-US" b="true" sz="4962" spc="14" u="none">
                <a:solidFill>
                  <a:srgbClr val="FFFFFF"/>
                </a:solidFill>
                <a:latin typeface="Open Sauce Bold"/>
                <a:ea typeface="Open Sauce Bold"/>
                <a:cs typeface="Open Sauce Bold"/>
                <a:sym typeface="Open Sauce Bold"/>
              </a:rPr>
              <a:t>ormula Fundamental Regresi Linear</a:t>
            </a:r>
          </a:p>
        </p:txBody>
      </p:sp>
      <p:grpSp>
        <p:nvGrpSpPr>
          <p:cNvPr name="Group 4" id="4"/>
          <p:cNvGrpSpPr/>
          <p:nvPr/>
        </p:nvGrpSpPr>
        <p:grpSpPr>
          <a:xfrm rot="0">
            <a:off x="6585379" y="3835075"/>
            <a:ext cx="5120270" cy="1857985"/>
            <a:chOff x="0" y="0"/>
            <a:chExt cx="6827027" cy="2477313"/>
          </a:xfrm>
        </p:grpSpPr>
        <p:grpSp>
          <p:nvGrpSpPr>
            <p:cNvPr name="Group 5" id="5"/>
            <p:cNvGrpSpPr/>
            <p:nvPr/>
          </p:nvGrpSpPr>
          <p:grpSpPr>
            <a:xfrm rot="0">
              <a:off x="0" y="0"/>
              <a:ext cx="6827027" cy="2477313"/>
              <a:chOff x="0" y="0"/>
              <a:chExt cx="5470564" cy="1985095"/>
            </a:xfrm>
          </p:grpSpPr>
          <p:sp>
            <p:nvSpPr>
              <p:cNvPr name="Freeform 6" id="6"/>
              <p:cNvSpPr/>
              <p:nvPr/>
            </p:nvSpPr>
            <p:spPr>
              <a:xfrm flipH="false" flipV="false" rot="0">
                <a:off x="0" y="0"/>
                <a:ext cx="5470564" cy="1985095"/>
              </a:xfrm>
              <a:custGeom>
                <a:avLst/>
                <a:gdLst/>
                <a:ahLst/>
                <a:cxnLst/>
                <a:rect r="r" b="b" t="t" l="l"/>
                <a:pathLst>
                  <a:path h="1985095" w="5470564">
                    <a:moveTo>
                      <a:pt x="57457" y="0"/>
                    </a:moveTo>
                    <a:lnTo>
                      <a:pt x="5413108" y="0"/>
                    </a:lnTo>
                    <a:cubicBezTo>
                      <a:pt x="5428346" y="0"/>
                      <a:pt x="5442960" y="6053"/>
                      <a:pt x="5453736" y="16829"/>
                    </a:cubicBezTo>
                    <a:cubicBezTo>
                      <a:pt x="5464511" y="27604"/>
                      <a:pt x="5470564" y="42218"/>
                      <a:pt x="5470564" y="57457"/>
                    </a:cubicBezTo>
                    <a:lnTo>
                      <a:pt x="5470564" y="1927639"/>
                    </a:lnTo>
                    <a:cubicBezTo>
                      <a:pt x="5470564" y="1942877"/>
                      <a:pt x="5464511" y="1957492"/>
                      <a:pt x="5453736" y="1968267"/>
                    </a:cubicBezTo>
                    <a:cubicBezTo>
                      <a:pt x="5442960" y="1979042"/>
                      <a:pt x="5428346" y="1985095"/>
                      <a:pt x="5413108" y="1985095"/>
                    </a:cubicBezTo>
                    <a:lnTo>
                      <a:pt x="57457" y="1985095"/>
                    </a:lnTo>
                    <a:cubicBezTo>
                      <a:pt x="25724" y="1985095"/>
                      <a:pt x="0" y="1959371"/>
                      <a:pt x="0" y="1927639"/>
                    </a:cubicBezTo>
                    <a:lnTo>
                      <a:pt x="0" y="57457"/>
                    </a:lnTo>
                    <a:cubicBezTo>
                      <a:pt x="0" y="42218"/>
                      <a:pt x="6053" y="27604"/>
                      <a:pt x="16829" y="16829"/>
                    </a:cubicBezTo>
                    <a:cubicBezTo>
                      <a:pt x="27604" y="6053"/>
                      <a:pt x="42218" y="0"/>
                      <a:pt x="57457" y="0"/>
                    </a:cubicBezTo>
                    <a:close/>
                  </a:path>
                </a:pathLst>
              </a:custGeom>
              <a:solidFill>
                <a:srgbClr val="E8E7F4"/>
              </a:solidFill>
            </p:spPr>
          </p:sp>
          <p:sp>
            <p:nvSpPr>
              <p:cNvPr name="TextBox 7" id="7"/>
              <p:cNvSpPr txBox="true"/>
              <p:nvPr/>
            </p:nvSpPr>
            <p:spPr>
              <a:xfrm>
                <a:off x="0" y="-28575"/>
                <a:ext cx="5470564" cy="2013670"/>
              </a:xfrm>
              <a:prstGeom prst="rect">
                <a:avLst/>
              </a:prstGeom>
            </p:spPr>
            <p:txBody>
              <a:bodyPr anchor="ctr" rtlCol="false" tIns="50800" lIns="50800" bIns="50800" rIns="50800"/>
              <a:lstStyle/>
              <a:p>
                <a:pPr algn="ctr">
                  <a:lnSpc>
                    <a:spcPts val="1960"/>
                  </a:lnSpc>
                  <a:spcBef>
                    <a:spcPct val="0"/>
                  </a:spcBef>
                </a:pPr>
              </a:p>
            </p:txBody>
          </p:sp>
        </p:grpSp>
        <p:sp>
          <p:nvSpPr>
            <p:cNvPr name="TextBox 8" id="8"/>
            <p:cNvSpPr txBox="true"/>
            <p:nvPr/>
          </p:nvSpPr>
          <p:spPr>
            <a:xfrm rot="0">
              <a:off x="996084" y="552494"/>
              <a:ext cx="4511992" cy="1229450"/>
            </a:xfrm>
            <a:prstGeom prst="rect">
              <a:avLst/>
            </a:prstGeom>
          </p:spPr>
          <p:txBody>
            <a:bodyPr anchor="t" rtlCol="false" tIns="0" lIns="0" bIns="0" rIns="0">
              <a:spAutoFit/>
            </a:bodyPr>
            <a:lstStyle/>
            <a:p>
              <a:pPr algn="ctr" marL="0" indent="0" lvl="0">
                <a:lnSpc>
                  <a:spcPts val="6926"/>
                </a:lnSpc>
              </a:pPr>
              <a:r>
                <a:rPr lang="en-US" b="true" sz="5369">
                  <a:solidFill>
                    <a:srgbClr val="16246D"/>
                  </a:solidFill>
                  <a:latin typeface="Codec Pro Bold"/>
                  <a:ea typeface="Codec Pro Bold"/>
                  <a:cs typeface="Codec Pro Bold"/>
                  <a:sym typeface="Codec Pro Bold"/>
                </a:rPr>
                <a:t>Y=</a:t>
              </a:r>
              <a:r>
                <a:rPr lang="en-US" b="true" sz="5369" u="none">
                  <a:solidFill>
                    <a:srgbClr val="16246D"/>
                  </a:solidFill>
                  <a:latin typeface="Codec Pro Bold"/>
                  <a:ea typeface="Codec Pro Bold"/>
                  <a:cs typeface="Codec Pro Bold"/>
                  <a:sym typeface="Codec Pro Bold"/>
                </a:rPr>
                <a:t>a+bX</a:t>
              </a:r>
            </a:p>
          </p:txBody>
        </p:sp>
      </p:grpSp>
      <p:grpSp>
        <p:nvGrpSpPr>
          <p:cNvPr name="Group 9" id="9"/>
          <p:cNvGrpSpPr/>
          <p:nvPr/>
        </p:nvGrpSpPr>
        <p:grpSpPr>
          <a:xfrm rot="0">
            <a:off x="1858269" y="6102706"/>
            <a:ext cx="14571462" cy="2664039"/>
            <a:chOff x="0" y="0"/>
            <a:chExt cx="19428616" cy="3552052"/>
          </a:xfrm>
        </p:grpSpPr>
        <p:grpSp>
          <p:nvGrpSpPr>
            <p:cNvPr name="Group 10" id="10"/>
            <p:cNvGrpSpPr/>
            <p:nvPr/>
          </p:nvGrpSpPr>
          <p:grpSpPr>
            <a:xfrm rot="0">
              <a:off x="0" y="0"/>
              <a:ext cx="19428616" cy="3552052"/>
              <a:chOff x="0" y="0"/>
              <a:chExt cx="11857911" cy="2167932"/>
            </a:xfrm>
          </p:grpSpPr>
          <p:sp>
            <p:nvSpPr>
              <p:cNvPr name="Freeform 11" id="11"/>
              <p:cNvSpPr/>
              <p:nvPr/>
            </p:nvSpPr>
            <p:spPr>
              <a:xfrm flipH="false" flipV="false" rot="0">
                <a:off x="0" y="0"/>
                <a:ext cx="11857911" cy="2167932"/>
              </a:xfrm>
              <a:custGeom>
                <a:avLst/>
                <a:gdLst/>
                <a:ahLst/>
                <a:cxnLst/>
                <a:rect r="r" b="b" t="t" l="l"/>
                <a:pathLst>
                  <a:path h="2167932" w="11857911">
                    <a:moveTo>
                      <a:pt x="20190" y="0"/>
                    </a:moveTo>
                    <a:lnTo>
                      <a:pt x="11837722" y="0"/>
                    </a:lnTo>
                    <a:cubicBezTo>
                      <a:pt x="11848872" y="0"/>
                      <a:pt x="11857911" y="9039"/>
                      <a:pt x="11857911" y="20190"/>
                    </a:cubicBezTo>
                    <a:lnTo>
                      <a:pt x="11857911" y="2147742"/>
                    </a:lnTo>
                    <a:cubicBezTo>
                      <a:pt x="11857911" y="2153097"/>
                      <a:pt x="11855784" y="2158232"/>
                      <a:pt x="11851997" y="2162019"/>
                    </a:cubicBezTo>
                    <a:cubicBezTo>
                      <a:pt x="11848212" y="2165805"/>
                      <a:pt x="11843076" y="2167932"/>
                      <a:pt x="11837722" y="2167932"/>
                    </a:cubicBezTo>
                    <a:lnTo>
                      <a:pt x="20190" y="2167932"/>
                    </a:lnTo>
                    <a:cubicBezTo>
                      <a:pt x="14835" y="2167932"/>
                      <a:pt x="9700" y="2165805"/>
                      <a:pt x="5913" y="2162019"/>
                    </a:cubicBezTo>
                    <a:cubicBezTo>
                      <a:pt x="2127" y="2158232"/>
                      <a:pt x="0" y="2153097"/>
                      <a:pt x="0" y="2147742"/>
                    </a:cubicBezTo>
                    <a:lnTo>
                      <a:pt x="0" y="20190"/>
                    </a:lnTo>
                    <a:cubicBezTo>
                      <a:pt x="0" y="14835"/>
                      <a:pt x="2127" y="9700"/>
                      <a:pt x="5913" y="5913"/>
                    </a:cubicBezTo>
                    <a:cubicBezTo>
                      <a:pt x="9700" y="2127"/>
                      <a:pt x="14835" y="0"/>
                      <a:pt x="20190" y="0"/>
                    </a:cubicBezTo>
                    <a:close/>
                  </a:path>
                </a:pathLst>
              </a:custGeom>
              <a:solidFill>
                <a:srgbClr val="ABB8FF"/>
              </a:solidFill>
            </p:spPr>
          </p:sp>
          <p:sp>
            <p:nvSpPr>
              <p:cNvPr name="TextBox 12" id="12"/>
              <p:cNvSpPr txBox="true"/>
              <p:nvPr/>
            </p:nvSpPr>
            <p:spPr>
              <a:xfrm>
                <a:off x="0" y="-28575"/>
                <a:ext cx="11857911" cy="2196507"/>
              </a:xfrm>
              <a:prstGeom prst="rect">
                <a:avLst/>
              </a:prstGeom>
            </p:spPr>
            <p:txBody>
              <a:bodyPr anchor="ctr" rtlCol="false" tIns="50800" lIns="50800" bIns="50800" rIns="50800"/>
              <a:lstStyle/>
              <a:p>
                <a:pPr algn="ctr">
                  <a:lnSpc>
                    <a:spcPts val="1960"/>
                  </a:lnSpc>
                  <a:spcBef>
                    <a:spcPct val="0"/>
                  </a:spcBef>
                </a:pPr>
              </a:p>
            </p:txBody>
          </p:sp>
        </p:grpSp>
        <p:sp>
          <p:nvSpPr>
            <p:cNvPr name="TextBox 13" id="13"/>
            <p:cNvSpPr txBox="true"/>
            <p:nvPr/>
          </p:nvSpPr>
          <p:spPr>
            <a:xfrm rot="0">
              <a:off x="895349" y="852139"/>
              <a:ext cx="7358867" cy="503019"/>
            </a:xfrm>
            <a:prstGeom prst="rect">
              <a:avLst/>
            </a:prstGeom>
          </p:spPr>
          <p:txBody>
            <a:bodyPr anchor="t" rtlCol="false" tIns="0" lIns="0" bIns="0" rIns="0">
              <a:spAutoFit/>
            </a:bodyPr>
            <a:lstStyle/>
            <a:p>
              <a:pPr algn="ctr" marL="0" indent="0" lvl="0">
                <a:lnSpc>
                  <a:spcPts val="2872"/>
                </a:lnSpc>
              </a:pPr>
              <a:r>
                <a:rPr lang="en-US" b="true" sz="2226">
                  <a:solidFill>
                    <a:srgbClr val="16246D"/>
                  </a:solidFill>
                  <a:latin typeface="Codec Pro Bold"/>
                  <a:ea typeface="Codec Pro Bold"/>
                  <a:cs typeface="Codec Pro Bold"/>
                  <a:sym typeface="Codec Pro Bold"/>
                </a:rPr>
                <a:t>Y</a:t>
              </a:r>
              <a:r>
                <a:rPr lang="en-US" b="true" sz="2226" u="none">
                  <a:solidFill>
                    <a:srgbClr val="16246D"/>
                  </a:solidFill>
                  <a:latin typeface="Codec Pro Bold"/>
                  <a:ea typeface="Codec Pro Bold"/>
                  <a:cs typeface="Codec Pro Bold"/>
                  <a:sym typeface="Codec Pro Bold"/>
                </a:rPr>
                <a:t> : Variabel Dependen (Target Prediksi)</a:t>
              </a:r>
            </a:p>
          </p:txBody>
        </p:sp>
        <p:sp>
          <p:nvSpPr>
            <p:cNvPr name="TextBox 14" id="14"/>
            <p:cNvSpPr txBox="true"/>
            <p:nvPr/>
          </p:nvSpPr>
          <p:spPr>
            <a:xfrm rot="0">
              <a:off x="909795" y="2124945"/>
              <a:ext cx="7358867" cy="503019"/>
            </a:xfrm>
            <a:prstGeom prst="rect">
              <a:avLst/>
            </a:prstGeom>
          </p:spPr>
          <p:txBody>
            <a:bodyPr anchor="t" rtlCol="false" tIns="0" lIns="0" bIns="0" rIns="0">
              <a:spAutoFit/>
            </a:bodyPr>
            <a:lstStyle/>
            <a:p>
              <a:pPr algn="ctr" marL="0" indent="0" lvl="0">
                <a:lnSpc>
                  <a:spcPts val="2872"/>
                </a:lnSpc>
              </a:pPr>
              <a:r>
                <a:rPr lang="en-US" b="true" sz="2226">
                  <a:solidFill>
                    <a:srgbClr val="16246D"/>
                  </a:solidFill>
                  <a:latin typeface="Codec Pro Bold"/>
                  <a:ea typeface="Codec Pro Bold"/>
                  <a:cs typeface="Codec Pro Bold"/>
                  <a:sym typeface="Codec Pro Bold"/>
                </a:rPr>
                <a:t>X</a:t>
              </a:r>
              <a:r>
                <a:rPr lang="en-US" b="true" sz="2226" u="none">
                  <a:solidFill>
                    <a:srgbClr val="16246D"/>
                  </a:solidFill>
                  <a:latin typeface="Codec Pro Bold"/>
                  <a:ea typeface="Codec Pro Bold"/>
                  <a:cs typeface="Codec Pro Bold"/>
                  <a:sym typeface="Codec Pro Bold"/>
                </a:rPr>
                <a:t> : Variabel Independen (Data Input)</a:t>
              </a:r>
            </a:p>
          </p:txBody>
        </p:sp>
        <p:sp>
          <p:nvSpPr>
            <p:cNvPr name="TextBox 15" id="15"/>
            <p:cNvSpPr txBox="true"/>
            <p:nvPr/>
          </p:nvSpPr>
          <p:spPr>
            <a:xfrm rot="0">
              <a:off x="9271361" y="1006867"/>
              <a:ext cx="8617227" cy="503019"/>
            </a:xfrm>
            <a:prstGeom prst="rect">
              <a:avLst/>
            </a:prstGeom>
          </p:spPr>
          <p:txBody>
            <a:bodyPr anchor="t" rtlCol="false" tIns="0" lIns="0" bIns="0" rIns="0">
              <a:spAutoFit/>
            </a:bodyPr>
            <a:lstStyle/>
            <a:p>
              <a:pPr algn="ctr" marL="0" indent="0" lvl="0">
                <a:lnSpc>
                  <a:spcPts val="2872"/>
                </a:lnSpc>
              </a:pPr>
              <a:r>
                <a:rPr lang="en-US" b="true" sz="2226">
                  <a:solidFill>
                    <a:srgbClr val="16246D"/>
                  </a:solidFill>
                  <a:latin typeface="Codec Pro Bold"/>
                  <a:ea typeface="Codec Pro Bold"/>
                  <a:cs typeface="Codec Pro Bold"/>
                  <a:sym typeface="Codec Pro Bold"/>
                </a:rPr>
                <a:t>a</a:t>
              </a:r>
              <a:r>
                <a:rPr lang="en-US" b="true" sz="2226" u="none">
                  <a:solidFill>
                    <a:srgbClr val="16246D"/>
                  </a:solidFill>
                  <a:latin typeface="Codec Pro Bold"/>
                  <a:ea typeface="Codec Pro Bold"/>
                  <a:cs typeface="Codec Pro Bold"/>
                  <a:sym typeface="Codec Pro Bold"/>
                </a:rPr>
                <a:t> : Konstanta Intersep (Titik Potong sumbu Y)</a:t>
              </a:r>
            </a:p>
          </p:txBody>
        </p:sp>
        <p:sp>
          <p:nvSpPr>
            <p:cNvPr name="TextBox 16" id="16"/>
            <p:cNvSpPr txBox="true"/>
            <p:nvPr/>
          </p:nvSpPr>
          <p:spPr>
            <a:xfrm rot="0">
              <a:off x="9523033" y="2138329"/>
              <a:ext cx="8617227" cy="503019"/>
            </a:xfrm>
            <a:prstGeom prst="rect">
              <a:avLst/>
            </a:prstGeom>
          </p:spPr>
          <p:txBody>
            <a:bodyPr anchor="t" rtlCol="false" tIns="0" lIns="0" bIns="0" rIns="0">
              <a:spAutoFit/>
            </a:bodyPr>
            <a:lstStyle/>
            <a:p>
              <a:pPr algn="ctr" marL="0" indent="0" lvl="0">
                <a:lnSpc>
                  <a:spcPts val="2872"/>
                </a:lnSpc>
              </a:pPr>
              <a:r>
                <a:rPr lang="en-US" b="true" sz="2226">
                  <a:solidFill>
                    <a:srgbClr val="16246D"/>
                  </a:solidFill>
                  <a:latin typeface="Codec Pro Bold"/>
                  <a:ea typeface="Codec Pro Bold"/>
                  <a:cs typeface="Codec Pro Bold"/>
                  <a:sym typeface="Codec Pro Bold"/>
                </a:rPr>
                <a:t>b</a:t>
              </a:r>
              <a:r>
                <a:rPr lang="en-US" b="true" sz="2226" u="none">
                  <a:solidFill>
                    <a:srgbClr val="16246D"/>
                  </a:solidFill>
                  <a:latin typeface="Codec Pro Bold"/>
                  <a:ea typeface="Codec Pro Bold"/>
                  <a:cs typeface="Codec Pro Bold"/>
                  <a:sym typeface="Codec Pro Bold"/>
                </a:rPr>
                <a:t> : Koefisien Kemiringan (Rasio perubahan)</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16246D"/>
        </a:solidFill>
      </p:bgPr>
    </p:bg>
    <p:spTree>
      <p:nvGrpSpPr>
        <p:cNvPr id="1" name=""/>
        <p:cNvGrpSpPr/>
        <p:nvPr/>
      </p:nvGrpSpPr>
      <p:grpSpPr>
        <a:xfrm>
          <a:off x="0" y="0"/>
          <a:ext cx="0" cy="0"/>
          <a:chOff x="0" y="0"/>
          <a:chExt cx="0" cy="0"/>
        </a:xfrm>
      </p:grpSpPr>
      <p:sp>
        <p:nvSpPr>
          <p:cNvPr name="TextBox 2" id="2"/>
          <p:cNvSpPr txBox="true"/>
          <p:nvPr/>
        </p:nvSpPr>
        <p:spPr>
          <a:xfrm rot="0">
            <a:off x="4336447" y="1871888"/>
            <a:ext cx="9615106" cy="1391539"/>
          </a:xfrm>
          <a:prstGeom prst="rect">
            <a:avLst/>
          </a:prstGeom>
        </p:spPr>
        <p:txBody>
          <a:bodyPr anchor="t" rtlCol="false" tIns="0" lIns="0" bIns="0" rIns="0">
            <a:spAutoFit/>
          </a:bodyPr>
          <a:lstStyle/>
          <a:p>
            <a:pPr algn="ctr" marL="0" indent="0" lvl="1">
              <a:lnSpc>
                <a:spcPts val="5408"/>
              </a:lnSpc>
            </a:pPr>
            <a:r>
              <a:rPr lang="en-US" b="true" sz="5200" spc="-249">
                <a:solidFill>
                  <a:srgbClr val="FBF6F1"/>
                </a:solidFill>
                <a:latin typeface="Open Sauce Semi-Bold"/>
                <a:ea typeface="Open Sauce Semi-Bold"/>
                <a:cs typeface="Open Sauce Semi-Bold"/>
                <a:sym typeface="Open Sauce Semi-Bold"/>
              </a:rPr>
              <a:t>Simulasi</a:t>
            </a:r>
            <a:r>
              <a:rPr lang="en-US" b="true" sz="5200" spc="-249">
                <a:solidFill>
                  <a:srgbClr val="FBF6F1"/>
                </a:solidFill>
                <a:latin typeface="Open Sauce Semi-Bold"/>
                <a:ea typeface="Open Sauce Semi-Bold"/>
                <a:cs typeface="Open Sauce Semi-Bold"/>
                <a:sym typeface="Open Sauce Semi-Bold"/>
              </a:rPr>
              <a:t> Visual via Microsoft Excel</a:t>
            </a:r>
          </a:p>
        </p:txBody>
      </p:sp>
      <p:grpSp>
        <p:nvGrpSpPr>
          <p:cNvPr name="Group 3" id="3"/>
          <p:cNvGrpSpPr/>
          <p:nvPr/>
        </p:nvGrpSpPr>
        <p:grpSpPr>
          <a:xfrm rot="0">
            <a:off x="2343771" y="3900609"/>
            <a:ext cx="6522397" cy="1965483"/>
            <a:chOff x="0" y="0"/>
            <a:chExt cx="8696529" cy="2620644"/>
          </a:xfrm>
        </p:grpSpPr>
        <p:grpSp>
          <p:nvGrpSpPr>
            <p:cNvPr name="Group 4" id="4"/>
            <p:cNvGrpSpPr/>
            <p:nvPr/>
          </p:nvGrpSpPr>
          <p:grpSpPr>
            <a:xfrm rot="0">
              <a:off x="0" y="0"/>
              <a:ext cx="8696529" cy="2620644"/>
              <a:chOff x="0" y="0"/>
              <a:chExt cx="6557057" cy="1975928"/>
            </a:xfrm>
          </p:grpSpPr>
          <p:sp>
            <p:nvSpPr>
              <p:cNvPr name="Freeform 5" id="5"/>
              <p:cNvSpPr/>
              <p:nvPr/>
            </p:nvSpPr>
            <p:spPr>
              <a:xfrm flipH="false" flipV="false" rot="0">
                <a:off x="0" y="0"/>
                <a:ext cx="6557057" cy="1975927"/>
              </a:xfrm>
              <a:custGeom>
                <a:avLst/>
                <a:gdLst/>
                <a:ahLst/>
                <a:cxnLst/>
                <a:rect r="r" b="b" t="t" l="l"/>
                <a:pathLst>
                  <a:path h="1975927" w="6557057">
                    <a:moveTo>
                      <a:pt x="45105" y="0"/>
                    </a:moveTo>
                    <a:lnTo>
                      <a:pt x="6511952" y="0"/>
                    </a:lnTo>
                    <a:cubicBezTo>
                      <a:pt x="6523915" y="0"/>
                      <a:pt x="6535387" y="4752"/>
                      <a:pt x="6543846" y="13211"/>
                    </a:cubicBezTo>
                    <a:cubicBezTo>
                      <a:pt x="6552305" y="21670"/>
                      <a:pt x="6557057" y="33142"/>
                      <a:pt x="6557057" y="45105"/>
                    </a:cubicBezTo>
                    <a:lnTo>
                      <a:pt x="6557057" y="1930822"/>
                    </a:lnTo>
                    <a:cubicBezTo>
                      <a:pt x="6557057" y="1942785"/>
                      <a:pt x="6552305" y="1954258"/>
                      <a:pt x="6543846" y="1962716"/>
                    </a:cubicBezTo>
                    <a:cubicBezTo>
                      <a:pt x="6535387" y="1971175"/>
                      <a:pt x="6523915" y="1975927"/>
                      <a:pt x="6511952" y="1975927"/>
                    </a:cubicBezTo>
                    <a:lnTo>
                      <a:pt x="45105" y="1975927"/>
                    </a:lnTo>
                    <a:cubicBezTo>
                      <a:pt x="20194" y="1975927"/>
                      <a:pt x="0" y="1955733"/>
                      <a:pt x="0" y="1930822"/>
                    </a:cubicBezTo>
                    <a:lnTo>
                      <a:pt x="0" y="45105"/>
                    </a:lnTo>
                    <a:cubicBezTo>
                      <a:pt x="0" y="33142"/>
                      <a:pt x="4752" y="21670"/>
                      <a:pt x="13211" y="13211"/>
                    </a:cubicBezTo>
                    <a:cubicBezTo>
                      <a:pt x="21670" y="4752"/>
                      <a:pt x="33142" y="0"/>
                      <a:pt x="45105" y="0"/>
                    </a:cubicBezTo>
                    <a:close/>
                  </a:path>
                </a:pathLst>
              </a:custGeom>
              <a:solidFill>
                <a:srgbClr val="5065D8"/>
              </a:solidFill>
            </p:spPr>
          </p:sp>
          <p:sp>
            <p:nvSpPr>
              <p:cNvPr name="TextBox 6" id="6"/>
              <p:cNvSpPr txBox="true"/>
              <p:nvPr/>
            </p:nvSpPr>
            <p:spPr>
              <a:xfrm>
                <a:off x="0" y="-28575"/>
                <a:ext cx="6557057" cy="2004503"/>
              </a:xfrm>
              <a:prstGeom prst="rect">
                <a:avLst/>
              </a:prstGeom>
            </p:spPr>
            <p:txBody>
              <a:bodyPr anchor="ctr" rtlCol="false" tIns="50800" lIns="50800" bIns="50800" rIns="50800"/>
              <a:lstStyle/>
              <a:p>
                <a:pPr algn="ctr">
                  <a:lnSpc>
                    <a:spcPts val="1960"/>
                  </a:lnSpc>
                  <a:spcBef>
                    <a:spcPct val="0"/>
                  </a:spcBef>
                </a:pPr>
              </a:p>
            </p:txBody>
          </p:sp>
        </p:grpSp>
        <p:sp>
          <p:nvSpPr>
            <p:cNvPr name="TextBox 7" id="7"/>
            <p:cNvSpPr txBox="true"/>
            <p:nvPr/>
          </p:nvSpPr>
          <p:spPr>
            <a:xfrm rot="0">
              <a:off x="610597" y="928006"/>
              <a:ext cx="1537939" cy="924585"/>
            </a:xfrm>
            <a:prstGeom prst="rect">
              <a:avLst/>
            </a:prstGeom>
          </p:spPr>
          <p:txBody>
            <a:bodyPr anchor="t" rtlCol="false" tIns="0" lIns="0" bIns="0" rIns="0">
              <a:spAutoFit/>
            </a:bodyPr>
            <a:lstStyle/>
            <a:p>
              <a:pPr algn="ctr" marL="0" indent="0" lvl="0">
                <a:lnSpc>
                  <a:spcPts val="4879"/>
                </a:lnSpc>
                <a:spcBef>
                  <a:spcPct val="0"/>
                </a:spcBef>
              </a:pPr>
              <a:r>
                <a:rPr lang="en-US" sz="5304" spc="-217">
                  <a:solidFill>
                    <a:srgbClr val="FFFFFF"/>
                  </a:solidFill>
                  <a:latin typeface="Open Sauce"/>
                  <a:ea typeface="Open Sauce"/>
                  <a:cs typeface="Open Sauce"/>
                  <a:sym typeface="Open Sauce"/>
                </a:rPr>
                <a:t>01</a:t>
              </a:r>
            </a:p>
          </p:txBody>
        </p:sp>
        <p:sp>
          <p:nvSpPr>
            <p:cNvPr name="TextBox 8" id="8"/>
            <p:cNvSpPr txBox="true"/>
            <p:nvPr/>
          </p:nvSpPr>
          <p:spPr>
            <a:xfrm rot="0">
              <a:off x="2395470" y="701865"/>
              <a:ext cx="5626455" cy="351917"/>
            </a:xfrm>
            <a:prstGeom prst="rect">
              <a:avLst/>
            </a:prstGeom>
          </p:spPr>
          <p:txBody>
            <a:bodyPr anchor="t" rtlCol="false" tIns="0" lIns="0" bIns="0" rIns="0">
              <a:spAutoFit/>
            </a:bodyPr>
            <a:lstStyle/>
            <a:p>
              <a:pPr algn="l" marL="0" indent="0" lvl="0">
                <a:lnSpc>
                  <a:spcPts val="2192"/>
                </a:lnSpc>
              </a:pPr>
              <a:r>
                <a:rPr lang="en-US" b="true" sz="1699">
                  <a:solidFill>
                    <a:srgbClr val="FFDE59"/>
                  </a:solidFill>
                  <a:latin typeface="Open Sauce Bold"/>
                  <a:ea typeface="Open Sauce Bold"/>
                  <a:cs typeface="Open Sauce Bold"/>
                  <a:sym typeface="Open Sauce Bold"/>
                </a:rPr>
                <a:t>Tab</a:t>
              </a:r>
              <a:r>
                <a:rPr lang="en-US" b="true" sz="1699" u="none">
                  <a:solidFill>
                    <a:srgbClr val="FFDE59"/>
                  </a:solidFill>
                  <a:latin typeface="Open Sauce Bold"/>
                  <a:ea typeface="Open Sauce Bold"/>
                  <a:cs typeface="Open Sauce Bold"/>
                  <a:sym typeface="Open Sauce Bold"/>
                </a:rPr>
                <a:t>ulasi Data Prediktor</a:t>
              </a:r>
            </a:p>
          </p:txBody>
        </p:sp>
        <p:sp>
          <p:nvSpPr>
            <p:cNvPr name="TextBox 9" id="9"/>
            <p:cNvSpPr txBox="true"/>
            <p:nvPr/>
          </p:nvSpPr>
          <p:spPr>
            <a:xfrm rot="0">
              <a:off x="2395470" y="1300797"/>
              <a:ext cx="5626455" cy="939165"/>
            </a:xfrm>
            <a:prstGeom prst="rect">
              <a:avLst/>
            </a:prstGeom>
          </p:spPr>
          <p:txBody>
            <a:bodyPr anchor="t" rtlCol="false" tIns="0" lIns="0" bIns="0" rIns="0">
              <a:spAutoFit/>
            </a:bodyPr>
            <a:lstStyle/>
            <a:p>
              <a:pPr algn="l" marL="0" indent="0" lvl="0">
                <a:lnSpc>
                  <a:spcPts val="1935"/>
                </a:lnSpc>
              </a:pPr>
              <a:r>
                <a:rPr lang="en-US" b="true" sz="1500">
                  <a:solidFill>
                    <a:srgbClr val="FBF6F1"/>
                  </a:solidFill>
                  <a:latin typeface="Open Sauce Bold"/>
                  <a:ea typeface="Open Sauce Bold"/>
                  <a:cs typeface="Open Sauce Bold"/>
                  <a:sym typeface="Open Sauce Bold"/>
                </a:rPr>
                <a:t>Memasukkan sekump</a:t>
              </a:r>
              <a:r>
                <a:rPr lang="en-US" b="true" sz="1500" u="none">
                  <a:solidFill>
                    <a:srgbClr val="FBF6F1"/>
                  </a:solidFill>
                  <a:latin typeface="Open Sauce Bold"/>
                  <a:ea typeface="Open Sauce Bold"/>
                  <a:cs typeface="Open Sauce Bold"/>
                  <a:sym typeface="Open Sauce Bold"/>
                </a:rPr>
                <a:t>ulan variabel target (Gaji) dan variabel prediktor (Pengalaman) historis.</a:t>
              </a:r>
            </a:p>
          </p:txBody>
        </p:sp>
      </p:grpSp>
      <p:sp>
        <p:nvSpPr>
          <p:cNvPr name="TextBox 10" id="10"/>
          <p:cNvSpPr txBox="true"/>
          <p:nvPr/>
        </p:nvSpPr>
        <p:spPr>
          <a:xfrm rot="0">
            <a:off x="8099312" y="1338869"/>
            <a:ext cx="4219841" cy="266319"/>
          </a:xfrm>
          <a:prstGeom prst="rect">
            <a:avLst/>
          </a:prstGeom>
        </p:spPr>
        <p:txBody>
          <a:bodyPr anchor="t" rtlCol="false" tIns="0" lIns="0" bIns="0" rIns="0">
            <a:spAutoFit/>
          </a:bodyPr>
          <a:lstStyle/>
          <a:p>
            <a:pPr algn="l" marL="0" indent="0" lvl="0">
              <a:lnSpc>
                <a:spcPts val="2192"/>
              </a:lnSpc>
            </a:pPr>
            <a:r>
              <a:rPr lang="en-US" b="true" sz="1699">
                <a:solidFill>
                  <a:srgbClr val="FFDE59"/>
                </a:solidFill>
                <a:latin typeface="Open Sauce Bold"/>
                <a:ea typeface="Open Sauce Bold"/>
                <a:cs typeface="Open Sauce Bold"/>
                <a:sym typeface="Open Sauce Bold"/>
              </a:rPr>
              <a:t>Pener</a:t>
            </a:r>
            <a:r>
              <a:rPr lang="en-US" b="true" sz="1699" u="none">
                <a:solidFill>
                  <a:srgbClr val="FFDE59"/>
                </a:solidFill>
                <a:latin typeface="Open Sauce Bold"/>
                <a:ea typeface="Open Sauce Bold"/>
                <a:cs typeface="Open Sauce Bold"/>
                <a:sym typeface="Open Sauce Bold"/>
              </a:rPr>
              <a:t>apan Praktis</a:t>
            </a:r>
          </a:p>
        </p:txBody>
      </p:sp>
      <p:grpSp>
        <p:nvGrpSpPr>
          <p:cNvPr name="Group 11" id="11"/>
          <p:cNvGrpSpPr/>
          <p:nvPr/>
        </p:nvGrpSpPr>
        <p:grpSpPr>
          <a:xfrm rot="0">
            <a:off x="2343771" y="6050890"/>
            <a:ext cx="6522397" cy="1965483"/>
            <a:chOff x="0" y="0"/>
            <a:chExt cx="8696529" cy="2620644"/>
          </a:xfrm>
        </p:grpSpPr>
        <p:grpSp>
          <p:nvGrpSpPr>
            <p:cNvPr name="Group 12" id="12"/>
            <p:cNvGrpSpPr/>
            <p:nvPr/>
          </p:nvGrpSpPr>
          <p:grpSpPr>
            <a:xfrm rot="0">
              <a:off x="0" y="0"/>
              <a:ext cx="8696529" cy="2620644"/>
              <a:chOff x="0" y="0"/>
              <a:chExt cx="6557057" cy="1975928"/>
            </a:xfrm>
          </p:grpSpPr>
          <p:sp>
            <p:nvSpPr>
              <p:cNvPr name="Freeform 13" id="13"/>
              <p:cNvSpPr/>
              <p:nvPr/>
            </p:nvSpPr>
            <p:spPr>
              <a:xfrm flipH="false" flipV="false" rot="0">
                <a:off x="0" y="0"/>
                <a:ext cx="6557057" cy="1975927"/>
              </a:xfrm>
              <a:custGeom>
                <a:avLst/>
                <a:gdLst/>
                <a:ahLst/>
                <a:cxnLst/>
                <a:rect r="r" b="b" t="t" l="l"/>
                <a:pathLst>
                  <a:path h="1975927" w="6557057">
                    <a:moveTo>
                      <a:pt x="45105" y="0"/>
                    </a:moveTo>
                    <a:lnTo>
                      <a:pt x="6511952" y="0"/>
                    </a:lnTo>
                    <a:cubicBezTo>
                      <a:pt x="6523915" y="0"/>
                      <a:pt x="6535387" y="4752"/>
                      <a:pt x="6543846" y="13211"/>
                    </a:cubicBezTo>
                    <a:cubicBezTo>
                      <a:pt x="6552305" y="21670"/>
                      <a:pt x="6557057" y="33142"/>
                      <a:pt x="6557057" y="45105"/>
                    </a:cubicBezTo>
                    <a:lnTo>
                      <a:pt x="6557057" y="1930822"/>
                    </a:lnTo>
                    <a:cubicBezTo>
                      <a:pt x="6557057" y="1942785"/>
                      <a:pt x="6552305" y="1954258"/>
                      <a:pt x="6543846" y="1962716"/>
                    </a:cubicBezTo>
                    <a:cubicBezTo>
                      <a:pt x="6535387" y="1971175"/>
                      <a:pt x="6523915" y="1975927"/>
                      <a:pt x="6511952" y="1975927"/>
                    </a:cubicBezTo>
                    <a:lnTo>
                      <a:pt x="45105" y="1975927"/>
                    </a:lnTo>
                    <a:cubicBezTo>
                      <a:pt x="20194" y="1975927"/>
                      <a:pt x="0" y="1955733"/>
                      <a:pt x="0" y="1930822"/>
                    </a:cubicBezTo>
                    <a:lnTo>
                      <a:pt x="0" y="45105"/>
                    </a:lnTo>
                    <a:cubicBezTo>
                      <a:pt x="0" y="33142"/>
                      <a:pt x="4752" y="21670"/>
                      <a:pt x="13211" y="13211"/>
                    </a:cubicBezTo>
                    <a:cubicBezTo>
                      <a:pt x="21670" y="4752"/>
                      <a:pt x="33142" y="0"/>
                      <a:pt x="45105" y="0"/>
                    </a:cubicBezTo>
                    <a:close/>
                  </a:path>
                </a:pathLst>
              </a:custGeom>
              <a:solidFill>
                <a:srgbClr val="5065D8"/>
              </a:solidFill>
            </p:spPr>
          </p:sp>
          <p:sp>
            <p:nvSpPr>
              <p:cNvPr name="TextBox 14" id="14"/>
              <p:cNvSpPr txBox="true"/>
              <p:nvPr/>
            </p:nvSpPr>
            <p:spPr>
              <a:xfrm>
                <a:off x="0" y="-28575"/>
                <a:ext cx="6557057" cy="2004503"/>
              </a:xfrm>
              <a:prstGeom prst="rect">
                <a:avLst/>
              </a:prstGeom>
            </p:spPr>
            <p:txBody>
              <a:bodyPr anchor="ctr" rtlCol="false" tIns="50800" lIns="50800" bIns="50800" rIns="50800"/>
              <a:lstStyle/>
              <a:p>
                <a:pPr algn="ctr">
                  <a:lnSpc>
                    <a:spcPts val="1960"/>
                  </a:lnSpc>
                  <a:spcBef>
                    <a:spcPct val="0"/>
                  </a:spcBef>
                </a:pPr>
              </a:p>
            </p:txBody>
          </p:sp>
        </p:grpSp>
        <p:sp>
          <p:nvSpPr>
            <p:cNvPr name="TextBox 15" id="15"/>
            <p:cNvSpPr txBox="true"/>
            <p:nvPr/>
          </p:nvSpPr>
          <p:spPr>
            <a:xfrm rot="0">
              <a:off x="602291" y="928006"/>
              <a:ext cx="1537939" cy="924585"/>
            </a:xfrm>
            <a:prstGeom prst="rect">
              <a:avLst/>
            </a:prstGeom>
          </p:spPr>
          <p:txBody>
            <a:bodyPr anchor="t" rtlCol="false" tIns="0" lIns="0" bIns="0" rIns="0">
              <a:spAutoFit/>
            </a:bodyPr>
            <a:lstStyle/>
            <a:p>
              <a:pPr algn="ctr" marL="0" indent="0" lvl="0">
                <a:lnSpc>
                  <a:spcPts val="4879"/>
                </a:lnSpc>
                <a:spcBef>
                  <a:spcPct val="0"/>
                </a:spcBef>
              </a:pPr>
              <a:r>
                <a:rPr lang="en-US" sz="5304" spc="-217">
                  <a:solidFill>
                    <a:srgbClr val="FFFFFF"/>
                  </a:solidFill>
                  <a:latin typeface="Open Sauce"/>
                  <a:ea typeface="Open Sauce"/>
                  <a:cs typeface="Open Sauce"/>
                  <a:sym typeface="Open Sauce"/>
                </a:rPr>
                <a:t>02</a:t>
              </a:r>
            </a:p>
          </p:txBody>
        </p:sp>
        <p:sp>
          <p:nvSpPr>
            <p:cNvPr name="TextBox 16" id="16"/>
            <p:cNvSpPr txBox="true"/>
            <p:nvPr/>
          </p:nvSpPr>
          <p:spPr>
            <a:xfrm rot="0">
              <a:off x="2387164" y="391778"/>
              <a:ext cx="5123111" cy="351917"/>
            </a:xfrm>
            <a:prstGeom prst="rect">
              <a:avLst/>
            </a:prstGeom>
          </p:spPr>
          <p:txBody>
            <a:bodyPr anchor="t" rtlCol="false" tIns="0" lIns="0" bIns="0" rIns="0">
              <a:spAutoFit/>
            </a:bodyPr>
            <a:lstStyle/>
            <a:p>
              <a:pPr algn="l" marL="0" indent="0" lvl="0">
                <a:lnSpc>
                  <a:spcPts val="2192"/>
                </a:lnSpc>
              </a:pPr>
              <a:r>
                <a:rPr lang="en-US" b="true" sz="1699" u="none">
                  <a:solidFill>
                    <a:srgbClr val="FFDE59"/>
                  </a:solidFill>
                  <a:latin typeface="Open Sauce Bold"/>
                  <a:ea typeface="Open Sauce Bold"/>
                  <a:cs typeface="Open Sauce Bold"/>
                  <a:sym typeface="Open Sauce Bold"/>
                </a:rPr>
                <a:t>Render Scatter Plot</a:t>
              </a:r>
            </a:p>
          </p:txBody>
        </p:sp>
        <p:sp>
          <p:nvSpPr>
            <p:cNvPr name="TextBox 17" id="17"/>
            <p:cNvSpPr txBox="true"/>
            <p:nvPr/>
          </p:nvSpPr>
          <p:spPr>
            <a:xfrm rot="0">
              <a:off x="2378858" y="988170"/>
              <a:ext cx="5626455" cy="939165"/>
            </a:xfrm>
            <a:prstGeom prst="rect">
              <a:avLst/>
            </a:prstGeom>
          </p:spPr>
          <p:txBody>
            <a:bodyPr anchor="t" rtlCol="false" tIns="0" lIns="0" bIns="0" rIns="0">
              <a:spAutoFit/>
            </a:bodyPr>
            <a:lstStyle/>
            <a:p>
              <a:pPr algn="l" marL="0" indent="0" lvl="0">
                <a:lnSpc>
                  <a:spcPts val="1935"/>
                </a:lnSpc>
              </a:pPr>
              <a:r>
                <a:rPr lang="en-US" b="true" sz="1500">
                  <a:solidFill>
                    <a:srgbClr val="FBF6F1"/>
                  </a:solidFill>
                  <a:latin typeface="Open Sauce Bold"/>
                  <a:ea typeface="Open Sauce Bold"/>
                  <a:cs typeface="Open Sauce Bold"/>
                  <a:sym typeface="Open Sauce Bold"/>
                </a:rPr>
                <a:t>Memvisualisasikan titik-titik sebar</a:t>
              </a:r>
              <a:r>
                <a:rPr lang="en-US" b="true" sz="1500" u="none">
                  <a:solidFill>
                    <a:srgbClr val="FBF6F1"/>
                  </a:solidFill>
                  <a:latin typeface="Open Sauce Bold"/>
                  <a:ea typeface="Open Sauce Bold"/>
                  <a:cs typeface="Open Sauce Bold"/>
                  <a:sym typeface="Open Sauce Bold"/>
                </a:rPr>
                <a:t>an data historis ke dalam koordinat kartesius ruang dua dimensi.</a:t>
              </a:r>
            </a:p>
          </p:txBody>
        </p:sp>
      </p:grpSp>
      <p:grpSp>
        <p:nvGrpSpPr>
          <p:cNvPr name="Group 18" id="18"/>
          <p:cNvGrpSpPr/>
          <p:nvPr/>
        </p:nvGrpSpPr>
        <p:grpSpPr>
          <a:xfrm rot="0">
            <a:off x="9594857" y="3900609"/>
            <a:ext cx="6522397" cy="1965483"/>
            <a:chOff x="0" y="0"/>
            <a:chExt cx="8696529" cy="2620644"/>
          </a:xfrm>
        </p:grpSpPr>
        <p:grpSp>
          <p:nvGrpSpPr>
            <p:cNvPr name="Group 19" id="19"/>
            <p:cNvGrpSpPr/>
            <p:nvPr/>
          </p:nvGrpSpPr>
          <p:grpSpPr>
            <a:xfrm rot="0">
              <a:off x="0" y="0"/>
              <a:ext cx="8696529" cy="2620644"/>
              <a:chOff x="0" y="0"/>
              <a:chExt cx="6557057" cy="1975928"/>
            </a:xfrm>
          </p:grpSpPr>
          <p:sp>
            <p:nvSpPr>
              <p:cNvPr name="Freeform 20" id="20"/>
              <p:cNvSpPr/>
              <p:nvPr/>
            </p:nvSpPr>
            <p:spPr>
              <a:xfrm flipH="false" flipV="false" rot="0">
                <a:off x="0" y="0"/>
                <a:ext cx="6557057" cy="1975927"/>
              </a:xfrm>
              <a:custGeom>
                <a:avLst/>
                <a:gdLst/>
                <a:ahLst/>
                <a:cxnLst/>
                <a:rect r="r" b="b" t="t" l="l"/>
                <a:pathLst>
                  <a:path h="1975927" w="6557057">
                    <a:moveTo>
                      <a:pt x="45105" y="0"/>
                    </a:moveTo>
                    <a:lnTo>
                      <a:pt x="6511952" y="0"/>
                    </a:lnTo>
                    <a:cubicBezTo>
                      <a:pt x="6523915" y="0"/>
                      <a:pt x="6535387" y="4752"/>
                      <a:pt x="6543846" y="13211"/>
                    </a:cubicBezTo>
                    <a:cubicBezTo>
                      <a:pt x="6552305" y="21670"/>
                      <a:pt x="6557057" y="33142"/>
                      <a:pt x="6557057" y="45105"/>
                    </a:cubicBezTo>
                    <a:lnTo>
                      <a:pt x="6557057" y="1930822"/>
                    </a:lnTo>
                    <a:cubicBezTo>
                      <a:pt x="6557057" y="1942785"/>
                      <a:pt x="6552305" y="1954258"/>
                      <a:pt x="6543846" y="1962716"/>
                    </a:cubicBezTo>
                    <a:cubicBezTo>
                      <a:pt x="6535387" y="1971175"/>
                      <a:pt x="6523915" y="1975927"/>
                      <a:pt x="6511952" y="1975927"/>
                    </a:cubicBezTo>
                    <a:lnTo>
                      <a:pt x="45105" y="1975927"/>
                    </a:lnTo>
                    <a:cubicBezTo>
                      <a:pt x="20194" y="1975927"/>
                      <a:pt x="0" y="1955733"/>
                      <a:pt x="0" y="1930822"/>
                    </a:cubicBezTo>
                    <a:lnTo>
                      <a:pt x="0" y="45105"/>
                    </a:lnTo>
                    <a:cubicBezTo>
                      <a:pt x="0" y="33142"/>
                      <a:pt x="4752" y="21670"/>
                      <a:pt x="13211" y="13211"/>
                    </a:cubicBezTo>
                    <a:cubicBezTo>
                      <a:pt x="21670" y="4752"/>
                      <a:pt x="33142" y="0"/>
                      <a:pt x="45105" y="0"/>
                    </a:cubicBezTo>
                    <a:close/>
                  </a:path>
                </a:pathLst>
              </a:custGeom>
              <a:solidFill>
                <a:srgbClr val="5065D8"/>
              </a:solidFill>
            </p:spPr>
          </p:sp>
          <p:sp>
            <p:nvSpPr>
              <p:cNvPr name="TextBox 21" id="21"/>
              <p:cNvSpPr txBox="true"/>
              <p:nvPr/>
            </p:nvSpPr>
            <p:spPr>
              <a:xfrm>
                <a:off x="0" y="-28575"/>
                <a:ext cx="6557057" cy="2004503"/>
              </a:xfrm>
              <a:prstGeom prst="rect">
                <a:avLst/>
              </a:prstGeom>
            </p:spPr>
            <p:txBody>
              <a:bodyPr anchor="ctr" rtlCol="false" tIns="50800" lIns="50800" bIns="50800" rIns="50800"/>
              <a:lstStyle/>
              <a:p>
                <a:pPr algn="ctr">
                  <a:lnSpc>
                    <a:spcPts val="1960"/>
                  </a:lnSpc>
                  <a:spcBef>
                    <a:spcPct val="0"/>
                  </a:spcBef>
                </a:pPr>
              </a:p>
            </p:txBody>
          </p:sp>
        </p:grpSp>
        <p:sp>
          <p:nvSpPr>
            <p:cNvPr name="TextBox 22" id="22"/>
            <p:cNvSpPr txBox="true"/>
            <p:nvPr/>
          </p:nvSpPr>
          <p:spPr>
            <a:xfrm rot="0">
              <a:off x="602291" y="928006"/>
              <a:ext cx="1537939" cy="924585"/>
            </a:xfrm>
            <a:prstGeom prst="rect">
              <a:avLst/>
            </a:prstGeom>
          </p:spPr>
          <p:txBody>
            <a:bodyPr anchor="t" rtlCol="false" tIns="0" lIns="0" bIns="0" rIns="0">
              <a:spAutoFit/>
            </a:bodyPr>
            <a:lstStyle/>
            <a:p>
              <a:pPr algn="ctr" marL="0" indent="0" lvl="0">
                <a:lnSpc>
                  <a:spcPts val="4879"/>
                </a:lnSpc>
                <a:spcBef>
                  <a:spcPct val="0"/>
                </a:spcBef>
              </a:pPr>
              <a:r>
                <a:rPr lang="en-US" sz="5304" spc="-217">
                  <a:solidFill>
                    <a:srgbClr val="FFFFFF"/>
                  </a:solidFill>
                  <a:latin typeface="Open Sauce"/>
                  <a:ea typeface="Open Sauce"/>
                  <a:cs typeface="Open Sauce"/>
                  <a:sym typeface="Open Sauce"/>
                </a:rPr>
                <a:t>03</a:t>
              </a:r>
            </a:p>
          </p:txBody>
        </p:sp>
        <p:sp>
          <p:nvSpPr>
            <p:cNvPr name="TextBox 23" id="23"/>
            <p:cNvSpPr txBox="true"/>
            <p:nvPr/>
          </p:nvSpPr>
          <p:spPr>
            <a:xfrm rot="0">
              <a:off x="2387164" y="701865"/>
              <a:ext cx="5626455" cy="720217"/>
            </a:xfrm>
            <a:prstGeom prst="rect">
              <a:avLst/>
            </a:prstGeom>
          </p:spPr>
          <p:txBody>
            <a:bodyPr anchor="t" rtlCol="false" tIns="0" lIns="0" bIns="0" rIns="0">
              <a:spAutoFit/>
            </a:bodyPr>
            <a:lstStyle/>
            <a:p>
              <a:pPr algn="l" marL="0" indent="0" lvl="0">
                <a:lnSpc>
                  <a:spcPts val="2192"/>
                </a:lnSpc>
              </a:pPr>
              <a:r>
                <a:rPr lang="en-US" b="true" sz="1699">
                  <a:solidFill>
                    <a:srgbClr val="FFDE59"/>
                  </a:solidFill>
                  <a:latin typeface="Open Sauce Bold"/>
                  <a:ea typeface="Open Sauce Bold"/>
                  <a:cs typeface="Open Sauce Bold"/>
                  <a:sym typeface="Open Sauce Bold"/>
                </a:rPr>
                <a:t>Aktiv</a:t>
              </a:r>
              <a:r>
                <a:rPr lang="en-US" b="true" sz="1699" u="none">
                  <a:solidFill>
                    <a:srgbClr val="FFDE59"/>
                  </a:solidFill>
                  <a:latin typeface="Open Sauce Bold"/>
                  <a:ea typeface="Open Sauce Bold"/>
                  <a:cs typeface="Open Sauce Bold"/>
                  <a:sym typeface="Open Sauce Bold"/>
                </a:rPr>
                <a:t>asi Trendline</a:t>
              </a:r>
            </a:p>
            <a:p>
              <a:pPr algn="l" marL="0" indent="0" lvl="0">
                <a:lnSpc>
                  <a:spcPts val="2192"/>
                </a:lnSpc>
              </a:pPr>
            </a:p>
          </p:txBody>
        </p:sp>
        <p:sp>
          <p:nvSpPr>
            <p:cNvPr name="TextBox 24" id="24"/>
            <p:cNvSpPr txBox="true"/>
            <p:nvPr/>
          </p:nvSpPr>
          <p:spPr>
            <a:xfrm rot="0">
              <a:off x="2378858" y="1082547"/>
              <a:ext cx="5626455" cy="939165"/>
            </a:xfrm>
            <a:prstGeom prst="rect">
              <a:avLst/>
            </a:prstGeom>
          </p:spPr>
          <p:txBody>
            <a:bodyPr anchor="t" rtlCol="false" tIns="0" lIns="0" bIns="0" rIns="0">
              <a:spAutoFit/>
            </a:bodyPr>
            <a:lstStyle/>
            <a:p>
              <a:pPr algn="l" marL="0" indent="0" lvl="0">
                <a:lnSpc>
                  <a:spcPts val="1935"/>
                </a:lnSpc>
              </a:pPr>
              <a:r>
                <a:rPr lang="en-US" b="true" sz="1500">
                  <a:solidFill>
                    <a:srgbClr val="FBF6F1"/>
                  </a:solidFill>
                  <a:latin typeface="Open Sauce Bold"/>
                  <a:ea typeface="Open Sauce Bold"/>
                  <a:cs typeface="Open Sauce Bold"/>
                  <a:sym typeface="Open Sauce Bold"/>
                </a:rPr>
                <a:t>Memerintahkan Exce</a:t>
              </a:r>
              <a:r>
                <a:rPr lang="en-US" b="true" sz="1500" u="none">
                  <a:solidFill>
                    <a:srgbClr val="FBF6F1"/>
                  </a:solidFill>
                  <a:latin typeface="Open Sauce Bold"/>
                  <a:ea typeface="Open Sauce Bold"/>
                  <a:cs typeface="Open Sauce Bold"/>
                  <a:sym typeface="Open Sauce Bold"/>
                </a:rPr>
                <a:t>l menarik garis lurus prediksi terbaik yang membelah titik sebaran data.</a:t>
              </a:r>
            </a:p>
          </p:txBody>
        </p:sp>
      </p:grpSp>
      <p:grpSp>
        <p:nvGrpSpPr>
          <p:cNvPr name="Group 25" id="25"/>
          <p:cNvGrpSpPr/>
          <p:nvPr/>
        </p:nvGrpSpPr>
        <p:grpSpPr>
          <a:xfrm rot="0">
            <a:off x="9594857" y="6050890"/>
            <a:ext cx="6522397" cy="1965483"/>
            <a:chOff x="0" y="0"/>
            <a:chExt cx="8696529" cy="2620644"/>
          </a:xfrm>
        </p:grpSpPr>
        <p:grpSp>
          <p:nvGrpSpPr>
            <p:cNvPr name="Group 26" id="26"/>
            <p:cNvGrpSpPr/>
            <p:nvPr/>
          </p:nvGrpSpPr>
          <p:grpSpPr>
            <a:xfrm rot="0">
              <a:off x="0" y="0"/>
              <a:ext cx="8696529" cy="2620644"/>
              <a:chOff x="0" y="0"/>
              <a:chExt cx="6557057" cy="1975928"/>
            </a:xfrm>
          </p:grpSpPr>
          <p:sp>
            <p:nvSpPr>
              <p:cNvPr name="Freeform 27" id="27"/>
              <p:cNvSpPr/>
              <p:nvPr/>
            </p:nvSpPr>
            <p:spPr>
              <a:xfrm flipH="false" flipV="false" rot="0">
                <a:off x="0" y="0"/>
                <a:ext cx="6557057" cy="1975927"/>
              </a:xfrm>
              <a:custGeom>
                <a:avLst/>
                <a:gdLst/>
                <a:ahLst/>
                <a:cxnLst/>
                <a:rect r="r" b="b" t="t" l="l"/>
                <a:pathLst>
                  <a:path h="1975927" w="6557057">
                    <a:moveTo>
                      <a:pt x="45105" y="0"/>
                    </a:moveTo>
                    <a:lnTo>
                      <a:pt x="6511952" y="0"/>
                    </a:lnTo>
                    <a:cubicBezTo>
                      <a:pt x="6523915" y="0"/>
                      <a:pt x="6535387" y="4752"/>
                      <a:pt x="6543846" y="13211"/>
                    </a:cubicBezTo>
                    <a:cubicBezTo>
                      <a:pt x="6552305" y="21670"/>
                      <a:pt x="6557057" y="33142"/>
                      <a:pt x="6557057" y="45105"/>
                    </a:cubicBezTo>
                    <a:lnTo>
                      <a:pt x="6557057" y="1930822"/>
                    </a:lnTo>
                    <a:cubicBezTo>
                      <a:pt x="6557057" y="1942785"/>
                      <a:pt x="6552305" y="1954258"/>
                      <a:pt x="6543846" y="1962716"/>
                    </a:cubicBezTo>
                    <a:cubicBezTo>
                      <a:pt x="6535387" y="1971175"/>
                      <a:pt x="6523915" y="1975927"/>
                      <a:pt x="6511952" y="1975927"/>
                    </a:cubicBezTo>
                    <a:lnTo>
                      <a:pt x="45105" y="1975927"/>
                    </a:lnTo>
                    <a:cubicBezTo>
                      <a:pt x="20194" y="1975927"/>
                      <a:pt x="0" y="1955733"/>
                      <a:pt x="0" y="1930822"/>
                    </a:cubicBezTo>
                    <a:lnTo>
                      <a:pt x="0" y="45105"/>
                    </a:lnTo>
                    <a:cubicBezTo>
                      <a:pt x="0" y="33142"/>
                      <a:pt x="4752" y="21670"/>
                      <a:pt x="13211" y="13211"/>
                    </a:cubicBezTo>
                    <a:cubicBezTo>
                      <a:pt x="21670" y="4752"/>
                      <a:pt x="33142" y="0"/>
                      <a:pt x="45105" y="0"/>
                    </a:cubicBezTo>
                    <a:close/>
                  </a:path>
                </a:pathLst>
              </a:custGeom>
              <a:solidFill>
                <a:srgbClr val="5065D8"/>
              </a:solidFill>
            </p:spPr>
          </p:sp>
          <p:sp>
            <p:nvSpPr>
              <p:cNvPr name="TextBox 28" id="28"/>
              <p:cNvSpPr txBox="true"/>
              <p:nvPr/>
            </p:nvSpPr>
            <p:spPr>
              <a:xfrm>
                <a:off x="0" y="-28575"/>
                <a:ext cx="6557057" cy="2004503"/>
              </a:xfrm>
              <a:prstGeom prst="rect">
                <a:avLst/>
              </a:prstGeom>
            </p:spPr>
            <p:txBody>
              <a:bodyPr anchor="ctr" rtlCol="false" tIns="50800" lIns="50800" bIns="50800" rIns="50800"/>
              <a:lstStyle/>
              <a:p>
                <a:pPr algn="ctr">
                  <a:lnSpc>
                    <a:spcPts val="1960"/>
                  </a:lnSpc>
                  <a:spcBef>
                    <a:spcPct val="0"/>
                  </a:spcBef>
                </a:pPr>
              </a:p>
            </p:txBody>
          </p:sp>
        </p:grpSp>
        <p:sp>
          <p:nvSpPr>
            <p:cNvPr name="TextBox 29" id="29"/>
            <p:cNvSpPr txBox="true"/>
            <p:nvPr/>
          </p:nvSpPr>
          <p:spPr>
            <a:xfrm rot="0">
              <a:off x="610597" y="928006"/>
              <a:ext cx="1537939" cy="924585"/>
            </a:xfrm>
            <a:prstGeom prst="rect">
              <a:avLst/>
            </a:prstGeom>
          </p:spPr>
          <p:txBody>
            <a:bodyPr anchor="t" rtlCol="false" tIns="0" lIns="0" bIns="0" rIns="0">
              <a:spAutoFit/>
            </a:bodyPr>
            <a:lstStyle/>
            <a:p>
              <a:pPr algn="ctr" marL="0" indent="0" lvl="0">
                <a:lnSpc>
                  <a:spcPts val="4879"/>
                </a:lnSpc>
                <a:spcBef>
                  <a:spcPct val="0"/>
                </a:spcBef>
              </a:pPr>
              <a:r>
                <a:rPr lang="en-US" sz="5304" spc="-217">
                  <a:solidFill>
                    <a:srgbClr val="FFFFFF"/>
                  </a:solidFill>
                  <a:latin typeface="Open Sauce"/>
                  <a:ea typeface="Open Sauce"/>
                  <a:cs typeface="Open Sauce"/>
                  <a:sym typeface="Open Sauce"/>
                </a:rPr>
                <a:t>04</a:t>
              </a:r>
            </a:p>
          </p:txBody>
        </p:sp>
        <p:sp>
          <p:nvSpPr>
            <p:cNvPr name="TextBox 30" id="30"/>
            <p:cNvSpPr txBox="true"/>
            <p:nvPr/>
          </p:nvSpPr>
          <p:spPr>
            <a:xfrm rot="0">
              <a:off x="2395470" y="701865"/>
              <a:ext cx="5626455" cy="351917"/>
            </a:xfrm>
            <a:prstGeom prst="rect">
              <a:avLst/>
            </a:prstGeom>
          </p:spPr>
          <p:txBody>
            <a:bodyPr anchor="t" rtlCol="false" tIns="0" lIns="0" bIns="0" rIns="0">
              <a:spAutoFit/>
            </a:bodyPr>
            <a:lstStyle/>
            <a:p>
              <a:pPr algn="l" marL="0" indent="0" lvl="0">
                <a:lnSpc>
                  <a:spcPts val="2192"/>
                </a:lnSpc>
              </a:pPr>
              <a:r>
                <a:rPr lang="en-US" b="true" sz="1699">
                  <a:solidFill>
                    <a:srgbClr val="FFDE59"/>
                  </a:solidFill>
                  <a:latin typeface="Open Sauce Bold"/>
                  <a:ea typeface="Open Sauce Bold"/>
                  <a:cs typeface="Open Sauce Bold"/>
                  <a:sym typeface="Open Sauce Bold"/>
                </a:rPr>
                <a:t>Ekstr</a:t>
              </a:r>
              <a:r>
                <a:rPr lang="en-US" b="true" sz="1699">
                  <a:solidFill>
                    <a:srgbClr val="FFDE59"/>
                  </a:solidFill>
                  <a:latin typeface="Open Sauce Bold"/>
                  <a:ea typeface="Open Sauce Bold"/>
                  <a:cs typeface="Open Sauce Bold"/>
                  <a:sym typeface="Open Sauce Bold"/>
                </a:rPr>
                <a:t>aksi Form</a:t>
              </a:r>
              <a:r>
                <a:rPr lang="en-US" b="true" sz="1699" u="none">
                  <a:solidFill>
                    <a:srgbClr val="FFDE59"/>
                  </a:solidFill>
                  <a:latin typeface="Open Sauce Bold"/>
                  <a:ea typeface="Open Sauce Bold"/>
                  <a:cs typeface="Open Sauce Bold"/>
                  <a:sym typeface="Open Sauce Bold"/>
                </a:rPr>
                <a:t>ula Garis</a:t>
              </a:r>
            </a:p>
          </p:txBody>
        </p:sp>
        <p:sp>
          <p:nvSpPr>
            <p:cNvPr name="TextBox 31" id="31"/>
            <p:cNvSpPr txBox="true"/>
            <p:nvPr/>
          </p:nvSpPr>
          <p:spPr>
            <a:xfrm rot="0">
              <a:off x="2389836" y="1304573"/>
              <a:ext cx="5626455" cy="939165"/>
            </a:xfrm>
            <a:prstGeom prst="rect">
              <a:avLst/>
            </a:prstGeom>
          </p:spPr>
          <p:txBody>
            <a:bodyPr anchor="t" rtlCol="false" tIns="0" lIns="0" bIns="0" rIns="0">
              <a:spAutoFit/>
            </a:bodyPr>
            <a:lstStyle/>
            <a:p>
              <a:pPr algn="l" marL="0" indent="0" lvl="0">
                <a:lnSpc>
                  <a:spcPts val="1935"/>
                </a:lnSpc>
              </a:pPr>
              <a:r>
                <a:rPr lang="en-US" b="true" sz="1500">
                  <a:solidFill>
                    <a:srgbClr val="FBF6F1"/>
                  </a:solidFill>
                  <a:latin typeface="Open Sauce Bold"/>
                  <a:ea typeface="Open Sauce Bold"/>
                  <a:cs typeface="Open Sauce Bold"/>
                  <a:sym typeface="Open Sauce Bold"/>
                </a:rPr>
                <a:t>Menampilkan persama</a:t>
              </a:r>
              <a:r>
                <a:rPr lang="en-US" b="true" sz="1500" u="none">
                  <a:solidFill>
                    <a:srgbClr val="FBF6F1"/>
                  </a:solidFill>
                  <a:latin typeface="Open Sauce Bold"/>
                  <a:ea typeface="Open Sauce Bold"/>
                  <a:cs typeface="Open Sauce Bold"/>
                  <a:sym typeface="Open Sauce Bold"/>
                </a:rPr>
                <a:t>an matematis secara instan guna melakukan proyeksi angka di sel baru.</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16246D"/>
        </a:solidFill>
      </p:bgPr>
    </p:bg>
    <p:spTree>
      <p:nvGrpSpPr>
        <p:cNvPr id="1" name=""/>
        <p:cNvGrpSpPr/>
        <p:nvPr/>
      </p:nvGrpSpPr>
      <p:grpSpPr>
        <a:xfrm>
          <a:off x="0" y="0"/>
          <a:ext cx="0" cy="0"/>
          <a:chOff x="0" y="0"/>
          <a:chExt cx="0" cy="0"/>
        </a:xfrm>
      </p:grpSpPr>
      <p:grpSp>
        <p:nvGrpSpPr>
          <p:cNvPr name="Group 2" id="2"/>
          <p:cNvGrpSpPr/>
          <p:nvPr/>
        </p:nvGrpSpPr>
        <p:grpSpPr>
          <a:xfrm rot="0">
            <a:off x="9418753" y="-1239070"/>
            <a:ext cx="10596480" cy="12765139"/>
            <a:chOff x="0" y="0"/>
            <a:chExt cx="2000630" cy="2410076"/>
          </a:xfrm>
        </p:grpSpPr>
        <p:sp>
          <p:nvSpPr>
            <p:cNvPr name="Freeform 3" id="3"/>
            <p:cNvSpPr/>
            <p:nvPr/>
          </p:nvSpPr>
          <p:spPr>
            <a:xfrm flipH="false" flipV="false" rot="0">
              <a:off x="0" y="0"/>
              <a:ext cx="2000630" cy="2410076"/>
            </a:xfrm>
            <a:custGeom>
              <a:avLst/>
              <a:gdLst/>
              <a:ahLst/>
              <a:cxnLst/>
              <a:rect r="r" b="b" t="t" l="l"/>
              <a:pathLst>
                <a:path h="2410076" w="2000630">
                  <a:moveTo>
                    <a:pt x="17535" y="0"/>
                  </a:moveTo>
                  <a:lnTo>
                    <a:pt x="1983096" y="0"/>
                  </a:lnTo>
                  <a:cubicBezTo>
                    <a:pt x="1992780" y="0"/>
                    <a:pt x="2000630" y="7851"/>
                    <a:pt x="2000630" y="17535"/>
                  </a:cubicBezTo>
                  <a:lnTo>
                    <a:pt x="2000630" y="2392542"/>
                  </a:lnTo>
                  <a:cubicBezTo>
                    <a:pt x="2000630" y="2397192"/>
                    <a:pt x="1998783" y="2401652"/>
                    <a:pt x="1995495" y="2404941"/>
                  </a:cubicBezTo>
                  <a:cubicBezTo>
                    <a:pt x="1992206" y="2408229"/>
                    <a:pt x="1987746" y="2410076"/>
                    <a:pt x="1983096" y="2410076"/>
                  </a:cubicBezTo>
                  <a:lnTo>
                    <a:pt x="17535" y="2410076"/>
                  </a:lnTo>
                  <a:cubicBezTo>
                    <a:pt x="12884" y="2410076"/>
                    <a:pt x="8424" y="2408229"/>
                    <a:pt x="5136" y="2404941"/>
                  </a:cubicBezTo>
                  <a:cubicBezTo>
                    <a:pt x="1847" y="2401652"/>
                    <a:pt x="0" y="2397192"/>
                    <a:pt x="0" y="2392542"/>
                  </a:cubicBezTo>
                  <a:lnTo>
                    <a:pt x="0" y="17535"/>
                  </a:lnTo>
                  <a:cubicBezTo>
                    <a:pt x="0" y="12884"/>
                    <a:pt x="1847" y="8424"/>
                    <a:pt x="5136" y="5136"/>
                  </a:cubicBezTo>
                  <a:cubicBezTo>
                    <a:pt x="8424" y="1847"/>
                    <a:pt x="12884" y="0"/>
                    <a:pt x="17535" y="0"/>
                  </a:cubicBezTo>
                  <a:close/>
                </a:path>
              </a:pathLst>
            </a:custGeom>
            <a:solidFill>
              <a:srgbClr val="FBF6F1"/>
            </a:solidFill>
            <a:ln cap="rnd">
              <a:noFill/>
              <a:prstDash val="solid"/>
              <a:round/>
            </a:ln>
          </p:spPr>
        </p:sp>
        <p:sp>
          <p:nvSpPr>
            <p:cNvPr name="TextBox 4" id="4"/>
            <p:cNvSpPr txBox="true"/>
            <p:nvPr/>
          </p:nvSpPr>
          <p:spPr>
            <a:xfrm>
              <a:off x="0" y="-38100"/>
              <a:ext cx="2000630" cy="2448176"/>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5" id="5"/>
          <p:cNvSpPr txBox="true"/>
          <p:nvPr/>
        </p:nvSpPr>
        <p:spPr>
          <a:xfrm rot="0">
            <a:off x="1378085" y="1438690"/>
            <a:ext cx="6826772" cy="3011424"/>
          </a:xfrm>
          <a:prstGeom prst="rect">
            <a:avLst/>
          </a:prstGeom>
        </p:spPr>
        <p:txBody>
          <a:bodyPr anchor="t" rtlCol="false" tIns="0" lIns="0" bIns="0" rIns="0">
            <a:spAutoFit/>
          </a:bodyPr>
          <a:lstStyle/>
          <a:p>
            <a:pPr algn="l">
              <a:lnSpc>
                <a:spcPts val="5928"/>
              </a:lnSpc>
            </a:pPr>
            <a:r>
              <a:rPr lang="en-US" sz="5200" spc="-249" b="true">
                <a:solidFill>
                  <a:srgbClr val="FFFFFF"/>
                </a:solidFill>
                <a:latin typeface="Open Sauce Semi-Bold"/>
                <a:ea typeface="Open Sauce Semi-Bold"/>
                <a:cs typeface="Open Sauce Semi-Bold"/>
                <a:sym typeface="Open Sauce Semi-Bold"/>
              </a:rPr>
              <a:t>Otomas</a:t>
            </a:r>
            <a:r>
              <a:rPr lang="en-US" b="true" sz="5200" spc="-249">
                <a:solidFill>
                  <a:srgbClr val="FFFFFF"/>
                </a:solidFill>
                <a:latin typeface="Open Sauce Semi-Bold"/>
                <a:ea typeface="Open Sauce Semi-Bold"/>
                <a:cs typeface="Open Sauce Semi-Bold"/>
                <a:sym typeface="Open Sauce Semi-Bold"/>
              </a:rPr>
              <a:t>i Pemodelan Skala Industri (Scikit-Learn)</a:t>
            </a:r>
          </a:p>
          <a:p>
            <a:pPr algn="l" marL="0" indent="0" lvl="1">
              <a:lnSpc>
                <a:spcPts val="5928"/>
              </a:lnSpc>
            </a:pPr>
          </a:p>
        </p:txBody>
      </p:sp>
      <p:grpSp>
        <p:nvGrpSpPr>
          <p:cNvPr name="Group 6" id="6"/>
          <p:cNvGrpSpPr/>
          <p:nvPr/>
        </p:nvGrpSpPr>
        <p:grpSpPr>
          <a:xfrm rot="0">
            <a:off x="1378085" y="4450114"/>
            <a:ext cx="7293285" cy="5419463"/>
            <a:chOff x="0" y="0"/>
            <a:chExt cx="1376983" cy="1023202"/>
          </a:xfrm>
        </p:grpSpPr>
        <p:sp>
          <p:nvSpPr>
            <p:cNvPr name="Freeform 7" id="7"/>
            <p:cNvSpPr/>
            <p:nvPr/>
          </p:nvSpPr>
          <p:spPr>
            <a:xfrm flipH="false" flipV="false" rot="0">
              <a:off x="0" y="0"/>
              <a:ext cx="1376983" cy="1023202"/>
            </a:xfrm>
            <a:custGeom>
              <a:avLst/>
              <a:gdLst/>
              <a:ahLst/>
              <a:cxnLst/>
              <a:rect r="r" b="b" t="t" l="l"/>
              <a:pathLst>
                <a:path h="1023202" w="1376983">
                  <a:moveTo>
                    <a:pt x="25476" y="0"/>
                  </a:moveTo>
                  <a:lnTo>
                    <a:pt x="1351506" y="0"/>
                  </a:lnTo>
                  <a:cubicBezTo>
                    <a:pt x="1358263" y="0"/>
                    <a:pt x="1364743" y="2684"/>
                    <a:pt x="1369521" y="7462"/>
                  </a:cubicBezTo>
                  <a:cubicBezTo>
                    <a:pt x="1374298" y="12240"/>
                    <a:pt x="1376983" y="18720"/>
                    <a:pt x="1376983" y="25476"/>
                  </a:cubicBezTo>
                  <a:lnTo>
                    <a:pt x="1376983" y="997726"/>
                  </a:lnTo>
                  <a:cubicBezTo>
                    <a:pt x="1376983" y="1004483"/>
                    <a:pt x="1374298" y="1010963"/>
                    <a:pt x="1369521" y="1015741"/>
                  </a:cubicBezTo>
                  <a:cubicBezTo>
                    <a:pt x="1364743" y="1020518"/>
                    <a:pt x="1358263" y="1023202"/>
                    <a:pt x="1351506" y="1023202"/>
                  </a:cubicBezTo>
                  <a:lnTo>
                    <a:pt x="25476" y="1023202"/>
                  </a:lnTo>
                  <a:cubicBezTo>
                    <a:pt x="18720" y="1023202"/>
                    <a:pt x="12240" y="1020518"/>
                    <a:pt x="7462" y="1015741"/>
                  </a:cubicBezTo>
                  <a:cubicBezTo>
                    <a:pt x="2684" y="1010963"/>
                    <a:pt x="0" y="1004483"/>
                    <a:pt x="0" y="997726"/>
                  </a:cubicBezTo>
                  <a:lnTo>
                    <a:pt x="0" y="25476"/>
                  </a:lnTo>
                  <a:cubicBezTo>
                    <a:pt x="0" y="18720"/>
                    <a:pt x="2684" y="12240"/>
                    <a:pt x="7462" y="7462"/>
                  </a:cubicBezTo>
                  <a:cubicBezTo>
                    <a:pt x="12240" y="2684"/>
                    <a:pt x="18720" y="0"/>
                    <a:pt x="25476" y="0"/>
                  </a:cubicBezTo>
                  <a:close/>
                </a:path>
              </a:pathLst>
            </a:custGeom>
            <a:solidFill>
              <a:srgbClr val="FBF6F1"/>
            </a:solidFill>
            <a:ln cap="rnd">
              <a:noFill/>
              <a:prstDash val="solid"/>
              <a:round/>
            </a:ln>
          </p:spPr>
        </p:sp>
        <p:sp>
          <p:nvSpPr>
            <p:cNvPr name="TextBox 8" id="8"/>
            <p:cNvSpPr txBox="true"/>
            <p:nvPr/>
          </p:nvSpPr>
          <p:spPr>
            <a:xfrm>
              <a:off x="0" y="-38100"/>
              <a:ext cx="1376983" cy="1061302"/>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9" id="9"/>
          <p:cNvSpPr txBox="true"/>
          <p:nvPr/>
        </p:nvSpPr>
        <p:spPr>
          <a:xfrm rot="0">
            <a:off x="1890749" y="4865370"/>
            <a:ext cx="6016285" cy="4392930"/>
          </a:xfrm>
          <a:prstGeom prst="rect">
            <a:avLst/>
          </a:prstGeom>
        </p:spPr>
        <p:txBody>
          <a:bodyPr anchor="t" rtlCol="false" tIns="0" lIns="0" bIns="0" rIns="0">
            <a:spAutoFit/>
          </a:bodyPr>
          <a:lstStyle/>
          <a:p>
            <a:pPr algn="l" marL="0" indent="0" lvl="0">
              <a:lnSpc>
                <a:spcPts val="2520"/>
              </a:lnSpc>
            </a:pPr>
            <a:r>
              <a:rPr lang="en-US" b="true" sz="1800" spc="5" u="none">
                <a:solidFill>
                  <a:srgbClr val="33326B"/>
                </a:solidFill>
                <a:latin typeface="Open Sauce Bold"/>
                <a:ea typeface="Open Sauce Bold"/>
                <a:cs typeface="Open Sauce Bold"/>
                <a:sym typeface="Open Sauce Bold"/>
              </a:rPr>
              <a:t>import pandas as pd</a:t>
            </a:r>
          </a:p>
          <a:p>
            <a:pPr algn="l" marL="0" indent="0" lvl="0">
              <a:lnSpc>
                <a:spcPts val="2520"/>
              </a:lnSpc>
            </a:pPr>
            <a:r>
              <a:rPr lang="en-US" b="true" sz="1800" spc="5" u="none">
                <a:solidFill>
                  <a:srgbClr val="33326B"/>
                </a:solidFill>
                <a:latin typeface="Open Sauce Bold"/>
                <a:ea typeface="Open Sauce Bold"/>
                <a:cs typeface="Open Sauce Bold"/>
                <a:sym typeface="Open Sauce Bold"/>
              </a:rPr>
              <a:t>from sklearn.linear_model import LinearRegression</a:t>
            </a:r>
          </a:p>
          <a:p>
            <a:pPr algn="l" marL="0" indent="0" lvl="0">
              <a:lnSpc>
                <a:spcPts val="2520"/>
              </a:lnSpc>
            </a:pPr>
          </a:p>
          <a:p>
            <a:pPr algn="l" marL="0" indent="0" lvl="0">
              <a:lnSpc>
                <a:spcPts val="2520"/>
              </a:lnSpc>
            </a:pPr>
            <a:r>
              <a:rPr lang="en-US" b="true" sz="1800" spc="5" u="none">
                <a:solidFill>
                  <a:srgbClr val="33326B"/>
                </a:solidFill>
                <a:latin typeface="Open Sauce Bold"/>
                <a:ea typeface="Open Sauce Bold"/>
                <a:cs typeface="Open Sauce Bold"/>
                <a:sym typeface="Open Sauce Bold"/>
              </a:rPr>
              <a:t># Inisiasi Pustaka dan Pembacaan Matriks</a:t>
            </a:r>
          </a:p>
          <a:p>
            <a:pPr algn="l" marL="0" indent="0" lvl="0">
              <a:lnSpc>
                <a:spcPts val="2520"/>
              </a:lnSpc>
            </a:pPr>
            <a:r>
              <a:rPr lang="en-US" b="true" sz="1800" spc="5" u="none">
                <a:solidFill>
                  <a:srgbClr val="33326B"/>
                </a:solidFill>
                <a:latin typeface="Open Sauce Bold"/>
                <a:ea typeface="Open Sauce Bold"/>
                <a:cs typeface="Open Sauce Bold"/>
                <a:sym typeface="Open Sauce Bold"/>
              </a:rPr>
              <a:t>X = df[['Pengalaman']]</a:t>
            </a:r>
          </a:p>
          <a:p>
            <a:pPr algn="l" marL="0" indent="0" lvl="0">
              <a:lnSpc>
                <a:spcPts val="2520"/>
              </a:lnSpc>
            </a:pPr>
            <a:r>
              <a:rPr lang="en-US" b="true" sz="1800" spc="5" u="none">
                <a:solidFill>
                  <a:srgbClr val="33326B"/>
                </a:solidFill>
                <a:latin typeface="Open Sauce Bold"/>
                <a:ea typeface="Open Sauce Bold"/>
                <a:cs typeface="Open Sauce Bold"/>
                <a:sym typeface="Open Sauce Bold"/>
              </a:rPr>
              <a:t>Y = df['Gaji']</a:t>
            </a:r>
          </a:p>
          <a:p>
            <a:pPr algn="l" marL="0" indent="0" lvl="0">
              <a:lnSpc>
                <a:spcPts val="2520"/>
              </a:lnSpc>
            </a:pPr>
          </a:p>
          <a:p>
            <a:pPr algn="l" marL="0" indent="0" lvl="0">
              <a:lnSpc>
                <a:spcPts val="2520"/>
              </a:lnSpc>
            </a:pPr>
            <a:r>
              <a:rPr lang="en-US" b="true" sz="1800" spc="5" u="none">
                <a:solidFill>
                  <a:srgbClr val="33326B"/>
                </a:solidFill>
                <a:latin typeface="Open Sauce Bold"/>
                <a:ea typeface="Open Sauce Bold"/>
                <a:cs typeface="Open Sauce Bold"/>
                <a:sym typeface="Open Sauce Bold"/>
              </a:rPr>
              <a:t># Proses Pelatihan Pola Matematis</a:t>
            </a:r>
          </a:p>
          <a:p>
            <a:pPr algn="l" marL="0" indent="0" lvl="0">
              <a:lnSpc>
                <a:spcPts val="2520"/>
              </a:lnSpc>
            </a:pPr>
            <a:r>
              <a:rPr lang="en-US" b="true" sz="1800" spc="5" u="none">
                <a:solidFill>
                  <a:srgbClr val="33326B"/>
                </a:solidFill>
                <a:latin typeface="Open Sauce Bold"/>
                <a:ea typeface="Open Sauce Bold"/>
                <a:cs typeface="Open Sauce Bold"/>
                <a:sym typeface="Open Sauce Bold"/>
              </a:rPr>
              <a:t>model = LinearRegression()</a:t>
            </a:r>
          </a:p>
          <a:p>
            <a:pPr algn="l" marL="0" indent="0" lvl="0">
              <a:lnSpc>
                <a:spcPts val="2520"/>
              </a:lnSpc>
            </a:pPr>
            <a:r>
              <a:rPr lang="en-US" b="true" sz="1800" spc="5" u="none">
                <a:solidFill>
                  <a:srgbClr val="33326B"/>
                </a:solidFill>
                <a:latin typeface="Open Sauce Bold"/>
                <a:ea typeface="Open Sauce Bold"/>
                <a:cs typeface="Open Sauce Bold"/>
                <a:sym typeface="Open Sauce Bold"/>
              </a:rPr>
              <a:t>model.fit(X, Y)</a:t>
            </a:r>
          </a:p>
          <a:p>
            <a:pPr algn="l" marL="0" indent="0" lvl="0">
              <a:lnSpc>
                <a:spcPts val="2520"/>
              </a:lnSpc>
            </a:pPr>
          </a:p>
          <a:p>
            <a:pPr algn="l" marL="0" indent="0" lvl="0">
              <a:lnSpc>
                <a:spcPts val="2520"/>
              </a:lnSpc>
            </a:pPr>
            <a:r>
              <a:rPr lang="en-US" b="true" sz="1800" spc="5" u="none">
                <a:solidFill>
                  <a:srgbClr val="33326B"/>
                </a:solidFill>
                <a:latin typeface="Open Sauce Bold"/>
                <a:ea typeface="Open Sauce Bold"/>
                <a:cs typeface="Open Sauce Bold"/>
                <a:sym typeface="Open Sauce Bold"/>
              </a:rPr>
              <a:t># Eksekusi Prediksi Data Baru</a:t>
            </a:r>
          </a:p>
          <a:p>
            <a:pPr algn="l" marL="0" indent="0" lvl="0">
              <a:lnSpc>
                <a:spcPts val="2520"/>
              </a:lnSpc>
            </a:pPr>
            <a:r>
              <a:rPr lang="en-US" b="true" sz="1800" spc="5" u="none">
                <a:solidFill>
                  <a:srgbClr val="33326B"/>
                </a:solidFill>
                <a:latin typeface="Open Sauce Bold"/>
                <a:ea typeface="Open Sauce Bold"/>
                <a:cs typeface="Open Sauce Bold"/>
                <a:sym typeface="Open Sauce Bold"/>
              </a:rPr>
              <a:t>prediksi = model.predict([[4.5]])</a:t>
            </a:r>
          </a:p>
          <a:p>
            <a:pPr algn="l" marL="0" indent="0" lvl="0">
              <a:lnSpc>
                <a:spcPts val="2520"/>
              </a:lnSpc>
            </a:pPr>
          </a:p>
        </p:txBody>
      </p:sp>
      <p:sp>
        <p:nvSpPr>
          <p:cNvPr name="TextBox 10" id="10"/>
          <p:cNvSpPr txBox="true"/>
          <p:nvPr/>
        </p:nvSpPr>
        <p:spPr>
          <a:xfrm rot="0">
            <a:off x="1378085" y="1019175"/>
            <a:ext cx="2709809" cy="266319"/>
          </a:xfrm>
          <a:prstGeom prst="rect">
            <a:avLst/>
          </a:prstGeom>
        </p:spPr>
        <p:txBody>
          <a:bodyPr anchor="t" rtlCol="false" tIns="0" lIns="0" bIns="0" rIns="0">
            <a:spAutoFit/>
          </a:bodyPr>
          <a:lstStyle/>
          <a:p>
            <a:pPr algn="l" marL="0" indent="0" lvl="0">
              <a:lnSpc>
                <a:spcPts val="2192"/>
              </a:lnSpc>
            </a:pPr>
            <a:r>
              <a:rPr lang="en-US" b="true" sz="1699">
                <a:solidFill>
                  <a:srgbClr val="FFDE59"/>
                </a:solidFill>
                <a:latin typeface="Open Sauce Bold"/>
                <a:ea typeface="Open Sauce Bold"/>
                <a:cs typeface="Open Sauce Bold"/>
                <a:sym typeface="Open Sauce Bold"/>
              </a:rPr>
              <a:t>Impleme</a:t>
            </a:r>
            <a:r>
              <a:rPr lang="en-US" b="true" sz="1699" u="none">
                <a:solidFill>
                  <a:srgbClr val="FFDE59"/>
                </a:solidFill>
                <a:latin typeface="Open Sauce Bold"/>
                <a:ea typeface="Open Sauce Bold"/>
                <a:cs typeface="Open Sauce Bold"/>
                <a:sym typeface="Open Sauce Bold"/>
              </a:rPr>
              <a:t>ntasi Python</a:t>
            </a:r>
          </a:p>
        </p:txBody>
      </p:sp>
      <p:sp>
        <p:nvSpPr>
          <p:cNvPr name="TextBox 11" id="11"/>
          <p:cNvSpPr txBox="true"/>
          <p:nvPr/>
        </p:nvSpPr>
        <p:spPr>
          <a:xfrm rot="0">
            <a:off x="10606406" y="1438690"/>
            <a:ext cx="6826772" cy="2258949"/>
          </a:xfrm>
          <a:prstGeom prst="rect">
            <a:avLst/>
          </a:prstGeom>
        </p:spPr>
        <p:txBody>
          <a:bodyPr anchor="t" rtlCol="false" tIns="0" lIns="0" bIns="0" rIns="0">
            <a:spAutoFit/>
          </a:bodyPr>
          <a:lstStyle/>
          <a:p>
            <a:pPr algn="l">
              <a:lnSpc>
                <a:spcPts val="5928"/>
              </a:lnSpc>
            </a:pPr>
            <a:r>
              <a:rPr lang="en-US" b="true" sz="5200" spc="-249">
                <a:solidFill>
                  <a:srgbClr val="33326B"/>
                </a:solidFill>
                <a:latin typeface="Open Sauce Semi-Bold"/>
                <a:ea typeface="Open Sauce Semi-Bold"/>
                <a:cs typeface="Open Sauce Semi-Bold"/>
                <a:sym typeface="Open Sauce Semi-Bold"/>
              </a:rPr>
              <a:t>Kelebihan Implementasi Kode</a:t>
            </a:r>
          </a:p>
          <a:p>
            <a:pPr algn="l">
              <a:lnSpc>
                <a:spcPts val="5928"/>
              </a:lnSpc>
            </a:pPr>
          </a:p>
        </p:txBody>
      </p:sp>
      <p:grpSp>
        <p:nvGrpSpPr>
          <p:cNvPr name="Group 12" id="12"/>
          <p:cNvGrpSpPr/>
          <p:nvPr/>
        </p:nvGrpSpPr>
        <p:grpSpPr>
          <a:xfrm rot="0">
            <a:off x="10370463" y="3422802"/>
            <a:ext cx="6664105" cy="1581466"/>
            <a:chOff x="0" y="0"/>
            <a:chExt cx="8885474" cy="2108621"/>
          </a:xfrm>
        </p:grpSpPr>
        <p:grpSp>
          <p:nvGrpSpPr>
            <p:cNvPr name="Group 13" id="13"/>
            <p:cNvGrpSpPr/>
            <p:nvPr/>
          </p:nvGrpSpPr>
          <p:grpSpPr>
            <a:xfrm rot="0">
              <a:off x="0" y="0"/>
              <a:ext cx="8885474" cy="2108621"/>
              <a:chOff x="0" y="0"/>
              <a:chExt cx="1258193" cy="298583"/>
            </a:xfrm>
          </p:grpSpPr>
          <p:sp>
            <p:nvSpPr>
              <p:cNvPr name="Freeform 14" id="14"/>
              <p:cNvSpPr/>
              <p:nvPr/>
            </p:nvSpPr>
            <p:spPr>
              <a:xfrm flipH="false" flipV="false" rot="0">
                <a:off x="0" y="0"/>
                <a:ext cx="1258192" cy="298583"/>
              </a:xfrm>
              <a:custGeom>
                <a:avLst/>
                <a:gdLst/>
                <a:ahLst/>
                <a:cxnLst/>
                <a:rect r="r" b="b" t="t" l="l"/>
                <a:pathLst>
                  <a:path h="298583" w="1258192">
                    <a:moveTo>
                      <a:pt x="27882" y="0"/>
                    </a:moveTo>
                    <a:lnTo>
                      <a:pt x="1230311" y="0"/>
                    </a:lnTo>
                    <a:cubicBezTo>
                      <a:pt x="1245709" y="0"/>
                      <a:pt x="1258192" y="12483"/>
                      <a:pt x="1258192" y="27882"/>
                    </a:cubicBezTo>
                    <a:lnTo>
                      <a:pt x="1258192" y="270701"/>
                    </a:lnTo>
                    <a:cubicBezTo>
                      <a:pt x="1258192" y="286100"/>
                      <a:pt x="1245709" y="298583"/>
                      <a:pt x="1230311" y="298583"/>
                    </a:cubicBezTo>
                    <a:lnTo>
                      <a:pt x="27882" y="298583"/>
                    </a:lnTo>
                    <a:cubicBezTo>
                      <a:pt x="12483" y="298583"/>
                      <a:pt x="0" y="286100"/>
                      <a:pt x="0" y="270701"/>
                    </a:cubicBezTo>
                    <a:lnTo>
                      <a:pt x="0" y="27882"/>
                    </a:lnTo>
                    <a:cubicBezTo>
                      <a:pt x="0" y="12483"/>
                      <a:pt x="12483" y="0"/>
                      <a:pt x="27882" y="0"/>
                    </a:cubicBezTo>
                    <a:close/>
                  </a:path>
                </a:pathLst>
              </a:custGeom>
              <a:solidFill>
                <a:srgbClr val="ABB8FF"/>
              </a:solidFill>
              <a:ln cap="rnd">
                <a:noFill/>
                <a:prstDash val="solid"/>
                <a:round/>
              </a:ln>
            </p:spPr>
          </p:sp>
          <p:sp>
            <p:nvSpPr>
              <p:cNvPr name="TextBox 15" id="15"/>
              <p:cNvSpPr txBox="true"/>
              <p:nvPr/>
            </p:nvSpPr>
            <p:spPr>
              <a:xfrm>
                <a:off x="0" y="-38100"/>
                <a:ext cx="1258193" cy="336683"/>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16" id="16"/>
            <p:cNvSpPr txBox="true"/>
            <p:nvPr/>
          </p:nvSpPr>
          <p:spPr>
            <a:xfrm rot="0">
              <a:off x="314590" y="185729"/>
              <a:ext cx="3613079" cy="351917"/>
            </a:xfrm>
            <a:prstGeom prst="rect">
              <a:avLst/>
            </a:prstGeom>
          </p:spPr>
          <p:txBody>
            <a:bodyPr anchor="t" rtlCol="false" tIns="0" lIns="0" bIns="0" rIns="0">
              <a:spAutoFit/>
            </a:bodyPr>
            <a:lstStyle/>
            <a:p>
              <a:pPr algn="l" marL="0" indent="0" lvl="0">
                <a:lnSpc>
                  <a:spcPts val="2192"/>
                </a:lnSpc>
              </a:pPr>
              <a:r>
                <a:rPr lang="en-US" b="true" sz="1699">
                  <a:solidFill>
                    <a:srgbClr val="FFDE59"/>
                  </a:solidFill>
                  <a:latin typeface="Open Sauce Bold"/>
                  <a:ea typeface="Open Sauce Bold"/>
                  <a:cs typeface="Open Sauce Bold"/>
                  <a:sym typeface="Open Sauce Bold"/>
                </a:rPr>
                <a:t>Skal</a:t>
              </a:r>
              <a:r>
                <a:rPr lang="en-US" b="true" sz="1699" u="none">
                  <a:solidFill>
                    <a:srgbClr val="FFDE59"/>
                  </a:solidFill>
                  <a:latin typeface="Open Sauce Bold"/>
                  <a:ea typeface="Open Sauce Bold"/>
                  <a:cs typeface="Open Sauce Bold"/>
                  <a:sym typeface="Open Sauce Bold"/>
                </a:rPr>
                <a:t>a Big Data</a:t>
              </a:r>
            </a:p>
          </p:txBody>
        </p:sp>
        <p:sp>
          <p:nvSpPr>
            <p:cNvPr name="TextBox 17" id="17"/>
            <p:cNvSpPr txBox="true"/>
            <p:nvPr/>
          </p:nvSpPr>
          <p:spPr>
            <a:xfrm rot="0">
              <a:off x="314590" y="758240"/>
              <a:ext cx="7975394" cy="720217"/>
            </a:xfrm>
            <a:prstGeom prst="rect">
              <a:avLst/>
            </a:prstGeom>
          </p:spPr>
          <p:txBody>
            <a:bodyPr anchor="t" rtlCol="false" tIns="0" lIns="0" bIns="0" rIns="0">
              <a:spAutoFit/>
            </a:bodyPr>
            <a:lstStyle/>
            <a:p>
              <a:pPr algn="l" marL="0" indent="0" lvl="0">
                <a:lnSpc>
                  <a:spcPts val="2192"/>
                </a:lnSpc>
              </a:pPr>
              <a:r>
                <a:rPr lang="en-US" b="true" sz="1699">
                  <a:solidFill>
                    <a:srgbClr val="FBF6F1"/>
                  </a:solidFill>
                  <a:latin typeface="Open Sauce Bold"/>
                  <a:ea typeface="Open Sauce Bold"/>
                  <a:cs typeface="Open Sauce Bold"/>
                  <a:sym typeface="Open Sauce Bold"/>
                </a:rPr>
                <a:t>Mampu mengeksekusi iterasi m</a:t>
              </a:r>
              <a:r>
                <a:rPr lang="en-US" b="true" sz="1699" u="none">
                  <a:solidFill>
                    <a:srgbClr val="FBF6F1"/>
                  </a:solidFill>
                  <a:latin typeface="Open Sauce Bold"/>
                  <a:ea typeface="Open Sauce Bold"/>
                  <a:cs typeface="Open Sauce Bold"/>
                  <a:sym typeface="Open Sauce Bold"/>
                </a:rPr>
                <a:t>atriks berukuran masif yang tidak tertampung oleh Spreadsheet.</a:t>
              </a:r>
            </a:p>
          </p:txBody>
        </p:sp>
      </p:grpSp>
      <p:grpSp>
        <p:nvGrpSpPr>
          <p:cNvPr name="Group 18" id="18"/>
          <p:cNvGrpSpPr/>
          <p:nvPr/>
        </p:nvGrpSpPr>
        <p:grpSpPr>
          <a:xfrm rot="0">
            <a:off x="10370463" y="5258258"/>
            <a:ext cx="6664105" cy="1857691"/>
            <a:chOff x="0" y="0"/>
            <a:chExt cx="8885474" cy="2476921"/>
          </a:xfrm>
        </p:grpSpPr>
        <p:grpSp>
          <p:nvGrpSpPr>
            <p:cNvPr name="Group 19" id="19"/>
            <p:cNvGrpSpPr/>
            <p:nvPr/>
          </p:nvGrpSpPr>
          <p:grpSpPr>
            <a:xfrm rot="0">
              <a:off x="0" y="0"/>
              <a:ext cx="8885474" cy="2476921"/>
              <a:chOff x="0" y="0"/>
              <a:chExt cx="1258193" cy="350735"/>
            </a:xfrm>
          </p:grpSpPr>
          <p:sp>
            <p:nvSpPr>
              <p:cNvPr name="Freeform 20" id="20"/>
              <p:cNvSpPr/>
              <p:nvPr/>
            </p:nvSpPr>
            <p:spPr>
              <a:xfrm flipH="false" flipV="false" rot="0">
                <a:off x="0" y="0"/>
                <a:ext cx="1258192" cy="350735"/>
              </a:xfrm>
              <a:custGeom>
                <a:avLst/>
                <a:gdLst/>
                <a:ahLst/>
                <a:cxnLst/>
                <a:rect r="r" b="b" t="t" l="l"/>
                <a:pathLst>
                  <a:path h="350735" w="1258192">
                    <a:moveTo>
                      <a:pt x="27882" y="0"/>
                    </a:moveTo>
                    <a:lnTo>
                      <a:pt x="1230311" y="0"/>
                    </a:lnTo>
                    <a:cubicBezTo>
                      <a:pt x="1245709" y="0"/>
                      <a:pt x="1258192" y="12483"/>
                      <a:pt x="1258192" y="27882"/>
                    </a:cubicBezTo>
                    <a:lnTo>
                      <a:pt x="1258192" y="322853"/>
                    </a:lnTo>
                    <a:cubicBezTo>
                      <a:pt x="1258192" y="338252"/>
                      <a:pt x="1245709" y="350735"/>
                      <a:pt x="1230311" y="350735"/>
                    </a:cubicBezTo>
                    <a:lnTo>
                      <a:pt x="27882" y="350735"/>
                    </a:lnTo>
                    <a:cubicBezTo>
                      <a:pt x="12483" y="350735"/>
                      <a:pt x="0" y="338252"/>
                      <a:pt x="0" y="322853"/>
                    </a:cubicBezTo>
                    <a:lnTo>
                      <a:pt x="0" y="27882"/>
                    </a:lnTo>
                    <a:cubicBezTo>
                      <a:pt x="0" y="12483"/>
                      <a:pt x="12483" y="0"/>
                      <a:pt x="27882" y="0"/>
                    </a:cubicBezTo>
                    <a:close/>
                  </a:path>
                </a:pathLst>
              </a:custGeom>
              <a:solidFill>
                <a:srgbClr val="5065D8"/>
              </a:solidFill>
              <a:ln cap="rnd">
                <a:noFill/>
                <a:prstDash val="solid"/>
                <a:round/>
              </a:ln>
            </p:spPr>
          </p:sp>
          <p:sp>
            <p:nvSpPr>
              <p:cNvPr name="TextBox 21" id="21"/>
              <p:cNvSpPr txBox="true"/>
              <p:nvPr/>
            </p:nvSpPr>
            <p:spPr>
              <a:xfrm>
                <a:off x="0" y="-38100"/>
                <a:ext cx="1258193" cy="388835"/>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22" id="22"/>
            <p:cNvSpPr txBox="true"/>
            <p:nvPr/>
          </p:nvSpPr>
          <p:spPr>
            <a:xfrm rot="0">
              <a:off x="314590" y="374483"/>
              <a:ext cx="5731318" cy="351917"/>
            </a:xfrm>
            <a:prstGeom prst="rect">
              <a:avLst/>
            </a:prstGeom>
          </p:spPr>
          <p:txBody>
            <a:bodyPr anchor="t" rtlCol="false" tIns="0" lIns="0" bIns="0" rIns="0">
              <a:spAutoFit/>
            </a:bodyPr>
            <a:lstStyle/>
            <a:p>
              <a:pPr algn="l" marL="0" indent="0" lvl="0">
                <a:lnSpc>
                  <a:spcPts val="2192"/>
                </a:lnSpc>
              </a:pPr>
              <a:r>
                <a:rPr lang="en-US" b="true" sz="1699" u="none">
                  <a:solidFill>
                    <a:srgbClr val="FFDE59"/>
                  </a:solidFill>
                  <a:latin typeface="Open Sauce Bold"/>
                  <a:ea typeface="Open Sauce Bold"/>
                  <a:cs typeface="Open Sauce Bold"/>
                  <a:sym typeface="Open Sauce Bold"/>
                </a:rPr>
                <a:t>Fungsi Pelatihan (.fit)</a:t>
              </a:r>
            </a:p>
          </p:txBody>
        </p:sp>
        <p:sp>
          <p:nvSpPr>
            <p:cNvPr name="TextBox 23" id="23"/>
            <p:cNvSpPr txBox="true"/>
            <p:nvPr/>
          </p:nvSpPr>
          <p:spPr>
            <a:xfrm rot="0">
              <a:off x="314590" y="1084594"/>
              <a:ext cx="7975394" cy="720217"/>
            </a:xfrm>
            <a:prstGeom prst="rect">
              <a:avLst/>
            </a:prstGeom>
          </p:spPr>
          <p:txBody>
            <a:bodyPr anchor="t" rtlCol="false" tIns="0" lIns="0" bIns="0" rIns="0">
              <a:spAutoFit/>
            </a:bodyPr>
            <a:lstStyle/>
            <a:p>
              <a:pPr algn="l" marL="0" indent="0" lvl="0">
                <a:lnSpc>
                  <a:spcPts val="2192"/>
                </a:lnSpc>
              </a:pPr>
              <a:r>
                <a:rPr lang="en-US" b="true" sz="1699">
                  <a:solidFill>
                    <a:srgbClr val="FBF6F1"/>
                  </a:solidFill>
                  <a:latin typeface="Open Sauce Bold"/>
                  <a:ea typeface="Open Sauce Bold"/>
                  <a:cs typeface="Open Sauce Bold"/>
                  <a:sym typeface="Open Sauce Bold"/>
                </a:rPr>
                <a:t>Menyederhan</a:t>
              </a:r>
              <a:r>
                <a:rPr lang="en-US" b="true" sz="1699" u="none">
                  <a:solidFill>
                    <a:srgbClr val="FBF6F1"/>
                  </a:solidFill>
                  <a:latin typeface="Open Sauce Bold"/>
                  <a:ea typeface="Open Sauce Bold"/>
                  <a:cs typeface="Open Sauce Bold"/>
                  <a:sym typeface="Open Sauce Bold"/>
                </a:rPr>
                <a:t>akan formula kuadrat terkecil yang kompleks menjadi satu baris intruksi eksekusi tunggal.</a:t>
              </a:r>
            </a:p>
          </p:txBody>
        </p:sp>
      </p:grpSp>
      <p:grpSp>
        <p:nvGrpSpPr>
          <p:cNvPr name="Group 24" id="24"/>
          <p:cNvGrpSpPr/>
          <p:nvPr/>
        </p:nvGrpSpPr>
        <p:grpSpPr>
          <a:xfrm rot="0">
            <a:off x="10370463" y="7373124"/>
            <a:ext cx="6664105" cy="1857691"/>
            <a:chOff x="0" y="0"/>
            <a:chExt cx="8885474" cy="2476921"/>
          </a:xfrm>
        </p:grpSpPr>
        <p:grpSp>
          <p:nvGrpSpPr>
            <p:cNvPr name="Group 25" id="25"/>
            <p:cNvGrpSpPr/>
            <p:nvPr/>
          </p:nvGrpSpPr>
          <p:grpSpPr>
            <a:xfrm rot="0">
              <a:off x="0" y="0"/>
              <a:ext cx="8885474" cy="2476921"/>
              <a:chOff x="0" y="0"/>
              <a:chExt cx="1258193" cy="350735"/>
            </a:xfrm>
          </p:grpSpPr>
          <p:sp>
            <p:nvSpPr>
              <p:cNvPr name="Freeform 26" id="26"/>
              <p:cNvSpPr/>
              <p:nvPr/>
            </p:nvSpPr>
            <p:spPr>
              <a:xfrm flipH="false" flipV="false" rot="0">
                <a:off x="0" y="0"/>
                <a:ext cx="1258192" cy="350735"/>
              </a:xfrm>
              <a:custGeom>
                <a:avLst/>
                <a:gdLst/>
                <a:ahLst/>
                <a:cxnLst/>
                <a:rect r="r" b="b" t="t" l="l"/>
                <a:pathLst>
                  <a:path h="350735" w="1258192">
                    <a:moveTo>
                      <a:pt x="27882" y="0"/>
                    </a:moveTo>
                    <a:lnTo>
                      <a:pt x="1230311" y="0"/>
                    </a:lnTo>
                    <a:cubicBezTo>
                      <a:pt x="1245709" y="0"/>
                      <a:pt x="1258192" y="12483"/>
                      <a:pt x="1258192" y="27882"/>
                    </a:cubicBezTo>
                    <a:lnTo>
                      <a:pt x="1258192" y="322853"/>
                    </a:lnTo>
                    <a:cubicBezTo>
                      <a:pt x="1258192" y="338252"/>
                      <a:pt x="1245709" y="350735"/>
                      <a:pt x="1230311" y="350735"/>
                    </a:cubicBezTo>
                    <a:lnTo>
                      <a:pt x="27882" y="350735"/>
                    </a:lnTo>
                    <a:cubicBezTo>
                      <a:pt x="12483" y="350735"/>
                      <a:pt x="0" y="338252"/>
                      <a:pt x="0" y="322853"/>
                    </a:cubicBezTo>
                    <a:lnTo>
                      <a:pt x="0" y="27882"/>
                    </a:lnTo>
                    <a:cubicBezTo>
                      <a:pt x="0" y="12483"/>
                      <a:pt x="12483" y="0"/>
                      <a:pt x="27882" y="0"/>
                    </a:cubicBezTo>
                    <a:close/>
                  </a:path>
                </a:pathLst>
              </a:custGeom>
              <a:solidFill>
                <a:srgbClr val="16246D"/>
              </a:solidFill>
              <a:ln cap="rnd">
                <a:noFill/>
                <a:prstDash val="solid"/>
                <a:round/>
              </a:ln>
            </p:spPr>
          </p:sp>
          <p:sp>
            <p:nvSpPr>
              <p:cNvPr name="TextBox 27" id="27"/>
              <p:cNvSpPr txBox="true"/>
              <p:nvPr/>
            </p:nvSpPr>
            <p:spPr>
              <a:xfrm>
                <a:off x="0" y="-38100"/>
                <a:ext cx="1258193" cy="388835"/>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28" id="28"/>
            <p:cNvSpPr txBox="true"/>
            <p:nvPr/>
          </p:nvSpPr>
          <p:spPr>
            <a:xfrm rot="0">
              <a:off x="314590" y="374483"/>
              <a:ext cx="5731318" cy="351917"/>
            </a:xfrm>
            <a:prstGeom prst="rect">
              <a:avLst/>
            </a:prstGeom>
          </p:spPr>
          <p:txBody>
            <a:bodyPr anchor="t" rtlCol="false" tIns="0" lIns="0" bIns="0" rIns="0">
              <a:spAutoFit/>
            </a:bodyPr>
            <a:lstStyle/>
            <a:p>
              <a:pPr algn="l" marL="0" indent="0" lvl="0">
                <a:lnSpc>
                  <a:spcPts val="2192"/>
                </a:lnSpc>
              </a:pPr>
              <a:r>
                <a:rPr lang="en-US" b="true" sz="1699" u="none">
                  <a:solidFill>
                    <a:srgbClr val="FFDE59"/>
                  </a:solidFill>
                  <a:latin typeface="Open Sauce Bold"/>
                  <a:ea typeface="Open Sauce Bold"/>
                  <a:cs typeface="Open Sauce Bold"/>
                  <a:sym typeface="Open Sauce Bold"/>
                </a:rPr>
                <a:t>Fungsi Proyeksi (.predict)</a:t>
              </a:r>
            </a:p>
          </p:txBody>
        </p:sp>
        <p:sp>
          <p:nvSpPr>
            <p:cNvPr name="TextBox 29" id="29"/>
            <p:cNvSpPr txBox="true"/>
            <p:nvPr/>
          </p:nvSpPr>
          <p:spPr>
            <a:xfrm rot="0">
              <a:off x="314590" y="1084594"/>
              <a:ext cx="7975394" cy="720217"/>
            </a:xfrm>
            <a:prstGeom prst="rect">
              <a:avLst/>
            </a:prstGeom>
          </p:spPr>
          <p:txBody>
            <a:bodyPr anchor="t" rtlCol="false" tIns="0" lIns="0" bIns="0" rIns="0">
              <a:spAutoFit/>
            </a:bodyPr>
            <a:lstStyle/>
            <a:p>
              <a:pPr algn="l" marL="0" indent="0" lvl="0">
                <a:lnSpc>
                  <a:spcPts val="2192"/>
                </a:lnSpc>
              </a:pPr>
              <a:r>
                <a:rPr lang="en-US" b="true" sz="1699">
                  <a:solidFill>
                    <a:srgbClr val="FBF6F1"/>
                  </a:solidFill>
                  <a:latin typeface="Open Sauce Bold"/>
                  <a:ea typeface="Open Sauce Bold"/>
                  <a:cs typeface="Open Sauce Bold"/>
                  <a:sym typeface="Open Sauce Bold"/>
                </a:rPr>
                <a:t>Secara otomatis meluncurkan teb</a:t>
              </a:r>
              <a:r>
                <a:rPr lang="en-US" b="true" sz="1699" u="none">
                  <a:solidFill>
                    <a:srgbClr val="FBF6F1"/>
                  </a:solidFill>
                  <a:latin typeface="Open Sauce Bold"/>
                  <a:ea typeface="Open Sauce Bold"/>
                  <a:cs typeface="Open Sauce Bold"/>
                  <a:sym typeface="Open Sauce Bold"/>
                </a:rPr>
                <a:t>akan akurat terhadap rentetan data baru yang belum dikenali.</a:t>
              </a: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16246D"/>
        </a:solidFill>
      </p:bgPr>
    </p:bg>
    <p:spTree>
      <p:nvGrpSpPr>
        <p:cNvPr id="1" name=""/>
        <p:cNvGrpSpPr/>
        <p:nvPr/>
      </p:nvGrpSpPr>
      <p:grpSpPr>
        <a:xfrm>
          <a:off x="0" y="0"/>
          <a:ext cx="0" cy="0"/>
          <a:chOff x="0" y="0"/>
          <a:chExt cx="0" cy="0"/>
        </a:xfrm>
      </p:grpSpPr>
      <p:grpSp>
        <p:nvGrpSpPr>
          <p:cNvPr name="Group 2" id="2"/>
          <p:cNvGrpSpPr/>
          <p:nvPr/>
        </p:nvGrpSpPr>
        <p:grpSpPr>
          <a:xfrm rot="0">
            <a:off x="2178867" y="1361636"/>
            <a:ext cx="13930266" cy="7563728"/>
            <a:chOff x="0" y="0"/>
            <a:chExt cx="2197294" cy="1193067"/>
          </a:xfrm>
        </p:grpSpPr>
        <p:sp>
          <p:nvSpPr>
            <p:cNvPr name="Freeform 3" id="3"/>
            <p:cNvSpPr/>
            <p:nvPr/>
          </p:nvSpPr>
          <p:spPr>
            <a:xfrm flipH="false" flipV="false" rot="0">
              <a:off x="0" y="0"/>
              <a:ext cx="2197294" cy="1193067"/>
            </a:xfrm>
            <a:custGeom>
              <a:avLst/>
              <a:gdLst/>
              <a:ahLst/>
              <a:cxnLst/>
              <a:rect r="r" b="b" t="t" l="l"/>
              <a:pathLst>
                <a:path h="1193067" w="2197294">
                  <a:moveTo>
                    <a:pt x="21119" y="0"/>
                  </a:moveTo>
                  <a:lnTo>
                    <a:pt x="2176175" y="0"/>
                  </a:lnTo>
                  <a:cubicBezTo>
                    <a:pt x="2181776" y="0"/>
                    <a:pt x="2187148" y="2225"/>
                    <a:pt x="2191109" y="6186"/>
                  </a:cubicBezTo>
                  <a:cubicBezTo>
                    <a:pt x="2195069" y="10146"/>
                    <a:pt x="2197294" y="15518"/>
                    <a:pt x="2197294" y="21119"/>
                  </a:cubicBezTo>
                  <a:lnTo>
                    <a:pt x="2197294" y="1171948"/>
                  </a:lnTo>
                  <a:cubicBezTo>
                    <a:pt x="2197294" y="1183611"/>
                    <a:pt x="2187839" y="1193067"/>
                    <a:pt x="2176175" y="1193067"/>
                  </a:cubicBezTo>
                  <a:lnTo>
                    <a:pt x="21119" y="1193067"/>
                  </a:lnTo>
                  <a:cubicBezTo>
                    <a:pt x="15518" y="1193067"/>
                    <a:pt x="10146" y="1190842"/>
                    <a:pt x="6186" y="1186881"/>
                  </a:cubicBezTo>
                  <a:cubicBezTo>
                    <a:pt x="2225" y="1182921"/>
                    <a:pt x="0" y="1177549"/>
                    <a:pt x="0" y="1171948"/>
                  </a:cubicBezTo>
                  <a:lnTo>
                    <a:pt x="0" y="21119"/>
                  </a:lnTo>
                  <a:cubicBezTo>
                    <a:pt x="0" y="9455"/>
                    <a:pt x="9455" y="0"/>
                    <a:pt x="21119" y="0"/>
                  </a:cubicBezTo>
                  <a:close/>
                </a:path>
              </a:pathLst>
            </a:custGeom>
            <a:solidFill>
              <a:srgbClr val="5065D8"/>
            </a:solidFill>
          </p:spPr>
        </p:sp>
        <p:sp>
          <p:nvSpPr>
            <p:cNvPr name="TextBox 4" id="4"/>
            <p:cNvSpPr txBox="true"/>
            <p:nvPr/>
          </p:nvSpPr>
          <p:spPr>
            <a:xfrm>
              <a:off x="0" y="-28575"/>
              <a:ext cx="2197294" cy="1221642"/>
            </a:xfrm>
            <a:prstGeom prst="rect">
              <a:avLst/>
            </a:prstGeom>
          </p:spPr>
          <p:txBody>
            <a:bodyPr anchor="ctr" rtlCol="false" tIns="50800" lIns="50800" bIns="50800" rIns="50800"/>
            <a:lstStyle/>
            <a:p>
              <a:pPr algn="ctr">
                <a:lnSpc>
                  <a:spcPts val="1960"/>
                </a:lnSpc>
                <a:spcBef>
                  <a:spcPct val="0"/>
                </a:spcBef>
              </a:pPr>
            </a:p>
          </p:txBody>
        </p:sp>
      </p:grpSp>
      <p:grpSp>
        <p:nvGrpSpPr>
          <p:cNvPr name="Group 5" id="5"/>
          <p:cNvGrpSpPr/>
          <p:nvPr/>
        </p:nvGrpSpPr>
        <p:grpSpPr>
          <a:xfrm rot="0">
            <a:off x="2423712" y="1619489"/>
            <a:ext cx="13440575" cy="7048022"/>
            <a:chOff x="0" y="0"/>
            <a:chExt cx="2120053" cy="1111722"/>
          </a:xfrm>
        </p:grpSpPr>
        <p:sp>
          <p:nvSpPr>
            <p:cNvPr name="Freeform 6" id="6"/>
            <p:cNvSpPr/>
            <p:nvPr/>
          </p:nvSpPr>
          <p:spPr>
            <a:xfrm flipH="false" flipV="false" rot="0">
              <a:off x="0" y="0"/>
              <a:ext cx="2120053" cy="1111722"/>
            </a:xfrm>
            <a:custGeom>
              <a:avLst/>
              <a:gdLst/>
              <a:ahLst/>
              <a:cxnLst/>
              <a:rect r="r" b="b" t="t" l="l"/>
              <a:pathLst>
                <a:path h="1111722" w="2120053">
                  <a:moveTo>
                    <a:pt x="12672" y="0"/>
                  </a:moveTo>
                  <a:lnTo>
                    <a:pt x="2107380" y="0"/>
                  </a:lnTo>
                  <a:cubicBezTo>
                    <a:pt x="2114379" y="0"/>
                    <a:pt x="2120053" y="5674"/>
                    <a:pt x="2120053" y="12672"/>
                  </a:cubicBezTo>
                  <a:lnTo>
                    <a:pt x="2120053" y="1099049"/>
                  </a:lnTo>
                  <a:cubicBezTo>
                    <a:pt x="2120053" y="1102410"/>
                    <a:pt x="2118718" y="1105633"/>
                    <a:pt x="2116341" y="1108010"/>
                  </a:cubicBezTo>
                  <a:cubicBezTo>
                    <a:pt x="2113965" y="1110386"/>
                    <a:pt x="2110741" y="1111722"/>
                    <a:pt x="2107380" y="1111722"/>
                  </a:cubicBezTo>
                  <a:lnTo>
                    <a:pt x="12672" y="1111722"/>
                  </a:lnTo>
                  <a:cubicBezTo>
                    <a:pt x="9311" y="1111722"/>
                    <a:pt x="6088" y="1110386"/>
                    <a:pt x="3712" y="1108010"/>
                  </a:cubicBezTo>
                  <a:cubicBezTo>
                    <a:pt x="1335" y="1105633"/>
                    <a:pt x="0" y="1102410"/>
                    <a:pt x="0" y="1099049"/>
                  </a:cubicBezTo>
                  <a:lnTo>
                    <a:pt x="0" y="12672"/>
                  </a:lnTo>
                  <a:cubicBezTo>
                    <a:pt x="0" y="5674"/>
                    <a:pt x="5674" y="0"/>
                    <a:pt x="12672" y="0"/>
                  </a:cubicBezTo>
                  <a:close/>
                </a:path>
              </a:pathLst>
            </a:custGeom>
            <a:ln w="47625" cap="rnd">
              <a:solidFill>
                <a:srgbClr val="FBF6F1"/>
              </a:solidFill>
              <a:prstDash val="dash"/>
              <a:round/>
            </a:ln>
          </p:spPr>
        </p:sp>
        <p:sp>
          <p:nvSpPr>
            <p:cNvPr name="TextBox 7" id="7"/>
            <p:cNvSpPr txBox="true"/>
            <p:nvPr/>
          </p:nvSpPr>
          <p:spPr>
            <a:xfrm>
              <a:off x="0" y="-28575"/>
              <a:ext cx="2120053" cy="1140297"/>
            </a:xfrm>
            <a:prstGeom prst="rect">
              <a:avLst/>
            </a:prstGeom>
          </p:spPr>
          <p:txBody>
            <a:bodyPr anchor="ctr" rtlCol="false" tIns="50800" lIns="50800" bIns="50800" rIns="50800"/>
            <a:lstStyle/>
            <a:p>
              <a:pPr algn="ctr">
                <a:lnSpc>
                  <a:spcPts val="1960"/>
                </a:lnSpc>
                <a:spcBef>
                  <a:spcPct val="0"/>
                </a:spcBef>
              </a:pPr>
            </a:p>
          </p:txBody>
        </p:sp>
      </p:grpSp>
      <p:sp>
        <p:nvSpPr>
          <p:cNvPr name="TextBox 8" id="8"/>
          <p:cNvSpPr txBox="true"/>
          <p:nvPr/>
        </p:nvSpPr>
        <p:spPr>
          <a:xfrm rot="0">
            <a:off x="5386946" y="2685285"/>
            <a:ext cx="7702862" cy="855345"/>
          </a:xfrm>
          <a:prstGeom prst="rect">
            <a:avLst/>
          </a:prstGeom>
        </p:spPr>
        <p:txBody>
          <a:bodyPr anchor="t" rtlCol="false" tIns="0" lIns="0" bIns="0" rIns="0">
            <a:spAutoFit/>
          </a:bodyPr>
          <a:lstStyle/>
          <a:p>
            <a:pPr algn="ctr" marL="0" indent="0" lvl="1">
              <a:lnSpc>
                <a:spcPts val="6540"/>
              </a:lnSpc>
            </a:pPr>
            <a:r>
              <a:rPr lang="en-US" b="true" sz="6000" spc="-288">
                <a:solidFill>
                  <a:srgbClr val="FFDE59"/>
                </a:solidFill>
                <a:latin typeface="Open Sauce Semi-Bold"/>
                <a:ea typeface="Open Sauce Semi-Bold"/>
                <a:cs typeface="Open Sauce Semi-Bold"/>
                <a:sym typeface="Open Sauce Semi-Bold"/>
              </a:rPr>
              <a:t>Kesimpulan </a:t>
            </a:r>
          </a:p>
        </p:txBody>
      </p:sp>
      <p:sp>
        <p:nvSpPr>
          <p:cNvPr name="TextBox 9" id="9"/>
          <p:cNvSpPr txBox="true"/>
          <p:nvPr/>
        </p:nvSpPr>
        <p:spPr>
          <a:xfrm rot="0">
            <a:off x="5002094" y="4014929"/>
            <a:ext cx="8472567" cy="3695700"/>
          </a:xfrm>
          <a:prstGeom prst="rect">
            <a:avLst/>
          </a:prstGeom>
        </p:spPr>
        <p:txBody>
          <a:bodyPr anchor="t" rtlCol="false" tIns="0" lIns="0" bIns="0" rIns="0">
            <a:spAutoFit/>
          </a:bodyPr>
          <a:lstStyle/>
          <a:p>
            <a:pPr algn="just" marL="0" indent="0" lvl="0">
              <a:lnSpc>
                <a:spcPts val="2999"/>
              </a:lnSpc>
            </a:pPr>
            <a:r>
              <a:rPr lang="en-US" b="true" sz="1999">
                <a:solidFill>
                  <a:srgbClr val="FFFFFF"/>
                </a:solidFill>
                <a:latin typeface="Open Sauce Bold"/>
                <a:ea typeface="Open Sauce Bold"/>
                <a:cs typeface="Open Sauce Bold"/>
                <a:sym typeface="Open Sauce Bold"/>
              </a:rPr>
              <a:t>M</a:t>
            </a:r>
            <a:r>
              <a:rPr lang="en-US" b="true" sz="1999" u="none">
                <a:solidFill>
                  <a:srgbClr val="FFFFFF"/>
                </a:solidFill>
                <a:latin typeface="Open Sauce Bold"/>
                <a:ea typeface="Open Sauce Bold"/>
                <a:cs typeface="Open Sauce Bold"/>
                <a:sym typeface="Open Sauce Bold"/>
              </a:rPr>
              <a:t>odel estimasi adalah teknik krusial dalam data mining yang berfungsi untuk memprediksi nilai numerik kontinu di masa depan berdasarkan analisis pola data historis, dengan Regresi Linear sebagai metode dasarnya. Dalam praktiknya, perhitungan dan pemodelan ini dapat divisualisasikan dengan mudah menggunakan Microsoft Excel untuk analisis berskala kecil. Sedangkan untuk kebutuhan industri dengan jumlah data yang masif dan terotomatisasi, implementasi menggunakan bahasa pemrograman Python merupakan standar yang paling efektif untuk mendukung pengambilan keputusan yang tepat sasaran.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6246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3255491" y="5243779"/>
            <a:ext cx="5599298" cy="5049549"/>
          </a:xfrm>
          <a:custGeom>
            <a:avLst/>
            <a:gdLst/>
            <a:ahLst/>
            <a:cxnLst/>
            <a:rect r="r" b="b" t="t" l="l"/>
            <a:pathLst>
              <a:path h="5049549" w="5599298">
                <a:moveTo>
                  <a:pt x="0" y="0"/>
                </a:moveTo>
                <a:lnTo>
                  <a:pt x="5599298" y="0"/>
                </a:lnTo>
                <a:lnTo>
                  <a:pt x="5599298" y="5049549"/>
                </a:lnTo>
                <a:lnTo>
                  <a:pt x="0" y="504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487695" y="2786309"/>
            <a:ext cx="9312611" cy="3994691"/>
          </a:xfrm>
          <a:prstGeom prst="rect">
            <a:avLst/>
          </a:prstGeom>
        </p:spPr>
        <p:txBody>
          <a:bodyPr anchor="t" rtlCol="false" tIns="0" lIns="0" bIns="0" rIns="0">
            <a:spAutoFit/>
          </a:bodyPr>
          <a:lstStyle/>
          <a:p>
            <a:pPr algn="ctr" marL="0" indent="0" lvl="1">
              <a:lnSpc>
                <a:spcPts val="10365"/>
              </a:lnSpc>
            </a:pPr>
            <a:r>
              <a:rPr lang="en-US" b="true" sz="10162" spc="-315">
                <a:solidFill>
                  <a:srgbClr val="FFFFFF"/>
                </a:solidFill>
                <a:latin typeface="Open Sauce Semi-Bold"/>
                <a:ea typeface="Open Sauce Semi-Bold"/>
                <a:cs typeface="Open Sauce Semi-Bold"/>
                <a:sym typeface="Open Sauce Semi-Bold"/>
              </a:rPr>
              <a:t>Thank you so much for you</a:t>
            </a:r>
            <a:r>
              <a:rPr lang="en-US" b="true" sz="10162" spc="-315">
                <a:solidFill>
                  <a:srgbClr val="FFFFFF"/>
                </a:solidFill>
                <a:latin typeface="Open Sauce Semi-Bold"/>
                <a:ea typeface="Open Sauce Semi-Bold"/>
                <a:cs typeface="Open Sauce Semi-Bold"/>
                <a:sym typeface="Open Sauce Semi-Bold"/>
              </a:rPr>
              <a:t>r attention!</a:t>
            </a:r>
          </a:p>
        </p:txBody>
      </p:sp>
      <p:sp>
        <p:nvSpPr>
          <p:cNvPr name="Freeform 4" id="4"/>
          <p:cNvSpPr/>
          <p:nvPr/>
        </p:nvSpPr>
        <p:spPr>
          <a:xfrm flipH="false" flipV="false" rot="5400000">
            <a:off x="-566789" y="-6328"/>
            <a:ext cx="5599298" cy="5049549"/>
          </a:xfrm>
          <a:custGeom>
            <a:avLst/>
            <a:gdLst/>
            <a:ahLst/>
            <a:cxnLst/>
            <a:rect r="r" b="b" t="t" l="l"/>
            <a:pathLst>
              <a:path h="5049549" w="5599298">
                <a:moveTo>
                  <a:pt x="0" y="0"/>
                </a:moveTo>
                <a:lnTo>
                  <a:pt x="5599298" y="0"/>
                </a:lnTo>
                <a:lnTo>
                  <a:pt x="5599298" y="5049549"/>
                </a:lnTo>
                <a:lnTo>
                  <a:pt x="0" y="5049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DAHX-UctaXU</dc:identifier>
  <dcterms:modified xsi:type="dcterms:W3CDTF">2011-08-01T06:04:30Z</dcterms:modified>
  <cp:revision>1</cp:revision>
  <dc:title>Model Estimasi-DataMining</dc:title>
</cp:coreProperties>
</file>